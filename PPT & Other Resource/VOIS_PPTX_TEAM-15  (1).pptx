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imo" panose="020B0604020202020204" charset="0"/>
      <p:regular r:id="rId20"/>
      <p:bold r:id="rId21"/>
      <p:boldItalic r:id="rId22"/>
    </p:embeddedFont>
    <p:embeddedFont>
      <p:font typeface="Fredoka" panose="020B0604020202020204" charset="-79"/>
      <p:regular r:id="rId23"/>
      <p:bold r:id="rId24"/>
    </p:embeddedFont>
    <p:embeddedFont>
      <p:font typeface="League Spartan" panose="020B0604020202020204" charset="0"/>
      <p:regular r:id="rId25"/>
      <p:bold r:id="rId26"/>
    </p:embeddedFont>
    <p:embeddedFont>
      <p:font typeface="Playfair Display Black" panose="020F0502020204030204" pitchFamily="2" charset="0"/>
      <p:bold r:id="rId27"/>
      <p:boldItalic r:id="rId28"/>
    </p:embeddedFont>
    <p:embeddedFont>
      <p:font typeface="Times" panose="02020603050405020304" pitchFamily="18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gDMmREo1S0vkQdc0ibBfTIHT11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42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6" name="Google Shape;13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5" name="Google Shape;155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6" name="Google Shape;196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5" name="Google Shape;235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0" name="Google Shape;250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5" name="Google Shape;265;p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9" name="Google Shape;279;p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9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3" name="Google Shape;293;p1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7" name="Google Shape;307;p1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1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1" name="Google Shape;331;p1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1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9" name="Google Shape;379;p1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p1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95" name="Google Shape;395;p1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1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46" name="Google Shape;446;p1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anTiwari07/KrishiSaarthi" TargetMode="External"/><Relationship Id="rId5" Type="http://schemas.openxmlformats.org/officeDocument/2006/relationships/image" Target="../media/image29.jp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" b="-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057650" y="57150"/>
            <a:ext cx="10172700" cy="10172700"/>
          </a:xfrm>
          <a:custGeom>
            <a:avLst/>
            <a:gdLst/>
            <a:ahLst/>
            <a:cxnLst/>
            <a:rect l="l" t="t" r="r" b="b"/>
            <a:pathLst>
              <a:path w="10172700" h="10172700" extrusionOk="0">
                <a:moveTo>
                  <a:pt x="0" y="0"/>
                </a:moveTo>
                <a:lnTo>
                  <a:pt x="10172700" y="0"/>
                </a:lnTo>
                <a:lnTo>
                  <a:pt x="10172700" y="10172700"/>
                </a:lnTo>
                <a:lnTo>
                  <a:pt x="0" y="10172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l="-139" r="-13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>
            <a:off x="2757025" y="2858014"/>
            <a:ext cx="11987675" cy="3656579"/>
            <a:chOff x="-1048367" y="0"/>
            <a:chExt cx="15983567" cy="4875438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14935200" cy="4875438"/>
            </a:xfrm>
            <a:custGeom>
              <a:avLst/>
              <a:gdLst/>
              <a:ahLst/>
              <a:cxnLst/>
              <a:rect l="l" t="t" r="r" b="b"/>
              <a:pathLst>
                <a:path w="14935200" h="4875438" extrusionOk="0">
                  <a:moveTo>
                    <a:pt x="0" y="0"/>
                  </a:moveTo>
                  <a:lnTo>
                    <a:pt x="14935200" y="0"/>
                  </a:lnTo>
                  <a:lnTo>
                    <a:pt x="14935200" y="4875438"/>
                  </a:lnTo>
                  <a:lnTo>
                    <a:pt x="0" y="4875438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t="-9688" b="-9687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-1048367" y="33342"/>
              <a:ext cx="14935200" cy="48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00" b="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VOIS Innovation </a:t>
              </a:r>
              <a:endParaRPr/>
            </a:p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00" b="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Marathon 2.0 </a:t>
              </a:r>
              <a:endParaRPr/>
            </a:p>
          </p:txBody>
        </p:sp>
      </p:grpSp>
      <p:sp>
        <p:nvSpPr>
          <p:cNvPr id="93" name="Google Shape;93;p1"/>
          <p:cNvSpPr/>
          <p:nvPr/>
        </p:nvSpPr>
        <p:spPr>
          <a:xfrm>
            <a:off x="439122" y="296247"/>
            <a:ext cx="2630653" cy="861536"/>
          </a:xfrm>
          <a:custGeom>
            <a:avLst/>
            <a:gdLst/>
            <a:ahLst/>
            <a:cxnLst/>
            <a:rect l="l" t="t" r="r" b="b"/>
            <a:pathLst>
              <a:path w="2630653" h="861536" extrusionOk="0">
                <a:moveTo>
                  <a:pt x="0" y="0"/>
                </a:moveTo>
                <a:lnTo>
                  <a:pt x="2630652" y="0"/>
                </a:lnTo>
                <a:lnTo>
                  <a:pt x="2630652" y="861536"/>
                </a:lnTo>
                <a:lnTo>
                  <a:pt x="0" y="861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154" b="-15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 flipH="1">
            <a:off x="15183822" y="9048359"/>
            <a:ext cx="2630653" cy="861536"/>
          </a:xfrm>
          <a:custGeom>
            <a:avLst/>
            <a:gdLst/>
            <a:ahLst/>
            <a:cxnLst/>
            <a:rect l="l" t="t" r="r" b="b"/>
            <a:pathLst>
              <a:path w="2630653" h="861536" extrusionOk="0">
                <a:moveTo>
                  <a:pt x="2630652" y="0"/>
                </a:moveTo>
                <a:lnTo>
                  <a:pt x="0" y="0"/>
                </a:lnTo>
                <a:lnTo>
                  <a:pt x="0" y="861537"/>
                </a:lnTo>
                <a:lnTo>
                  <a:pt x="2630652" y="861537"/>
                </a:lnTo>
                <a:lnTo>
                  <a:pt x="2630652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154" b="-15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 rot="10800000">
            <a:off x="8278587" y="9977571"/>
            <a:ext cx="10727874" cy="652329"/>
          </a:xfrm>
          <a:custGeom>
            <a:avLst/>
            <a:gdLst/>
            <a:ahLst/>
            <a:cxnLst/>
            <a:rect l="l" t="t" r="r" b="b"/>
            <a:pathLst>
              <a:path w="10727874" h="652329" extrusionOk="0">
                <a:moveTo>
                  <a:pt x="10727874" y="652329"/>
                </a:moveTo>
                <a:lnTo>
                  <a:pt x="0" y="652329"/>
                </a:lnTo>
                <a:lnTo>
                  <a:pt x="0" y="0"/>
                </a:lnTo>
                <a:lnTo>
                  <a:pt x="10727874" y="0"/>
                </a:lnTo>
                <a:lnTo>
                  <a:pt x="10727874" y="652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5272" b="-652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0" y="9976752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-933298" y="-19050"/>
            <a:ext cx="10972800" cy="589950"/>
          </a:xfrm>
          <a:custGeom>
            <a:avLst/>
            <a:gdLst/>
            <a:ahLst/>
            <a:cxnLst/>
            <a:rect l="l" t="t" r="r" b="b"/>
            <a:pathLst>
              <a:path w="10972800" h="589950" extrusionOk="0">
                <a:moveTo>
                  <a:pt x="0" y="0"/>
                </a:moveTo>
                <a:lnTo>
                  <a:pt x="10972800" y="0"/>
                </a:lnTo>
                <a:lnTo>
                  <a:pt x="10972800" y="589950"/>
                </a:lnTo>
                <a:lnTo>
                  <a:pt x="0" y="58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773" b="-807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10039502" y="-33261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2"/>
          <p:cNvGrpSpPr/>
          <p:nvPr/>
        </p:nvGrpSpPr>
        <p:grpSpPr>
          <a:xfrm>
            <a:off x="3529012" y="5418953"/>
            <a:ext cx="2690146" cy="2690146"/>
            <a:chOff x="0" y="0"/>
            <a:chExt cx="3586861" cy="3586861"/>
          </a:xfrm>
        </p:grpSpPr>
        <p:sp>
          <p:nvSpPr>
            <p:cNvPr id="104" name="Google Shape;104;p2"/>
            <p:cNvSpPr/>
            <p:nvPr/>
          </p:nvSpPr>
          <p:spPr>
            <a:xfrm>
              <a:off x="19050" y="19050"/>
              <a:ext cx="3548761" cy="3548761"/>
            </a:xfrm>
            <a:custGeom>
              <a:avLst/>
              <a:gdLst/>
              <a:ahLst/>
              <a:cxnLst/>
              <a:rect l="l" t="t" r="r" b="b"/>
              <a:pathLst>
                <a:path w="3548761" h="3548761" extrusionOk="0">
                  <a:moveTo>
                    <a:pt x="0" y="286639"/>
                  </a:moveTo>
                  <a:cubicBezTo>
                    <a:pt x="0" y="128397"/>
                    <a:pt x="128397" y="0"/>
                    <a:pt x="286639" y="0"/>
                  </a:cubicBezTo>
                  <a:lnTo>
                    <a:pt x="3262122" y="0"/>
                  </a:lnTo>
                  <a:cubicBezTo>
                    <a:pt x="3420491" y="0"/>
                    <a:pt x="3548761" y="128397"/>
                    <a:pt x="3548761" y="286639"/>
                  </a:cubicBezTo>
                  <a:lnTo>
                    <a:pt x="3548761" y="3262122"/>
                  </a:lnTo>
                  <a:cubicBezTo>
                    <a:pt x="3548761" y="3420491"/>
                    <a:pt x="3420364" y="3548761"/>
                    <a:pt x="3262122" y="3548761"/>
                  </a:cubicBezTo>
                  <a:lnTo>
                    <a:pt x="286639" y="3548761"/>
                  </a:lnTo>
                  <a:cubicBezTo>
                    <a:pt x="128270" y="3548761"/>
                    <a:pt x="0" y="3420364"/>
                    <a:pt x="0" y="32621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0" y="0"/>
              <a:ext cx="3586861" cy="3586861"/>
            </a:xfrm>
            <a:custGeom>
              <a:avLst/>
              <a:gdLst/>
              <a:ahLst/>
              <a:cxnLst/>
              <a:rect l="l" t="t" r="r" b="b"/>
              <a:pathLst>
                <a:path w="3586861" h="3586861" extrusionOk="0">
                  <a:moveTo>
                    <a:pt x="0" y="305689"/>
                  </a:moveTo>
                  <a:cubicBezTo>
                    <a:pt x="0" y="136906"/>
                    <a:pt x="136906" y="0"/>
                    <a:pt x="305689" y="0"/>
                  </a:cubicBezTo>
                  <a:lnTo>
                    <a:pt x="3281172" y="0"/>
                  </a:lnTo>
                  <a:lnTo>
                    <a:pt x="3281172" y="19050"/>
                  </a:lnTo>
                  <a:lnTo>
                    <a:pt x="3281172" y="0"/>
                  </a:lnTo>
                  <a:cubicBezTo>
                    <a:pt x="3449955" y="0"/>
                    <a:pt x="3586861" y="136906"/>
                    <a:pt x="3586861" y="305689"/>
                  </a:cubicBezTo>
                  <a:lnTo>
                    <a:pt x="3567811" y="305689"/>
                  </a:lnTo>
                  <a:lnTo>
                    <a:pt x="3586861" y="305689"/>
                  </a:lnTo>
                  <a:lnTo>
                    <a:pt x="3586861" y="3281172"/>
                  </a:lnTo>
                  <a:lnTo>
                    <a:pt x="3567811" y="3281172"/>
                  </a:lnTo>
                  <a:lnTo>
                    <a:pt x="3586861" y="3281172"/>
                  </a:lnTo>
                  <a:cubicBezTo>
                    <a:pt x="3586861" y="3449955"/>
                    <a:pt x="3449955" y="3586861"/>
                    <a:pt x="3281172" y="3586861"/>
                  </a:cubicBezTo>
                  <a:lnTo>
                    <a:pt x="3281172" y="3567811"/>
                  </a:lnTo>
                  <a:lnTo>
                    <a:pt x="3281172" y="3586861"/>
                  </a:lnTo>
                  <a:lnTo>
                    <a:pt x="305689" y="3586861"/>
                  </a:lnTo>
                  <a:lnTo>
                    <a:pt x="305689" y="3567811"/>
                  </a:lnTo>
                  <a:lnTo>
                    <a:pt x="305689" y="3586861"/>
                  </a:lnTo>
                  <a:cubicBezTo>
                    <a:pt x="136906" y="3586861"/>
                    <a:pt x="0" y="3449955"/>
                    <a:pt x="0" y="3281172"/>
                  </a:cubicBezTo>
                  <a:lnTo>
                    <a:pt x="0" y="305689"/>
                  </a:lnTo>
                  <a:lnTo>
                    <a:pt x="19050" y="305689"/>
                  </a:lnTo>
                  <a:lnTo>
                    <a:pt x="0" y="305689"/>
                  </a:lnTo>
                  <a:moveTo>
                    <a:pt x="38100" y="305689"/>
                  </a:moveTo>
                  <a:lnTo>
                    <a:pt x="38100" y="3281172"/>
                  </a:lnTo>
                  <a:lnTo>
                    <a:pt x="19050" y="3281172"/>
                  </a:lnTo>
                  <a:lnTo>
                    <a:pt x="38100" y="3281172"/>
                  </a:lnTo>
                  <a:cubicBezTo>
                    <a:pt x="38100" y="3429000"/>
                    <a:pt x="157861" y="3548761"/>
                    <a:pt x="305689" y="3548761"/>
                  </a:cubicBezTo>
                  <a:lnTo>
                    <a:pt x="3281172" y="3548761"/>
                  </a:lnTo>
                  <a:cubicBezTo>
                    <a:pt x="3429000" y="3548761"/>
                    <a:pt x="3548761" y="3429000"/>
                    <a:pt x="3548761" y="3281172"/>
                  </a:cubicBezTo>
                  <a:lnTo>
                    <a:pt x="3548761" y="305689"/>
                  </a:lnTo>
                  <a:cubicBezTo>
                    <a:pt x="3548761" y="157861"/>
                    <a:pt x="3428873" y="38100"/>
                    <a:pt x="3281172" y="38100"/>
                  </a:cubicBezTo>
                  <a:lnTo>
                    <a:pt x="305689" y="38100"/>
                  </a:lnTo>
                  <a:lnTo>
                    <a:pt x="305689" y="19050"/>
                  </a:lnTo>
                  <a:lnTo>
                    <a:pt x="305689" y="38100"/>
                  </a:lnTo>
                  <a:cubicBezTo>
                    <a:pt x="157861" y="38100"/>
                    <a:pt x="38100" y="157861"/>
                    <a:pt x="38100" y="305689"/>
                  </a:cubicBezTo>
                  <a:close/>
                </a:path>
              </a:pathLst>
            </a:custGeom>
            <a:solidFill>
              <a:srgbClr val="E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2"/>
          <p:cNvSpPr/>
          <p:nvPr/>
        </p:nvSpPr>
        <p:spPr>
          <a:xfrm>
            <a:off x="3675512" y="5565453"/>
            <a:ext cx="2397125" cy="2397125"/>
          </a:xfrm>
          <a:custGeom>
            <a:avLst/>
            <a:gdLst/>
            <a:ahLst/>
            <a:cxnLst/>
            <a:rect l="l" t="t" r="r" b="b"/>
            <a:pathLst>
              <a:path w="2490597" h="2490597" extrusionOk="0">
                <a:moveTo>
                  <a:pt x="0" y="0"/>
                </a:moveTo>
                <a:lnTo>
                  <a:pt x="2490597" y="0"/>
                </a:lnTo>
                <a:lnTo>
                  <a:pt x="2490597" y="2490597"/>
                </a:lnTo>
                <a:lnTo>
                  <a:pt x="0" y="24905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960645" y="4327074"/>
            <a:ext cx="5992654" cy="816483"/>
          </a:xfrm>
          <a:custGeom>
            <a:avLst/>
            <a:gdLst/>
            <a:ahLst/>
            <a:cxnLst/>
            <a:rect l="l" t="t" r="r" b="b"/>
            <a:pathLst>
              <a:path w="7990205" h="1088644" extrusionOk="0">
                <a:moveTo>
                  <a:pt x="0" y="181483"/>
                </a:moveTo>
                <a:cubicBezTo>
                  <a:pt x="0" y="81280"/>
                  <a:pt x="81280" y="0"/>
                  <a:pt x="181483" y="0"/>
                </a:cubicBezTo>
                <a:lnTo>
                  <a:pt x="7808722" y="0"/>
                </a:lnTo>
                <a:cubicBezTo>
                  <a:pt x="7908925" y="0"/>
                  <a:pt x="7990205" y="81280"/>
                  <a:pt x="7990205" y="181483"/>
                </a:cubicBezTo>
                <a:lnTo>
                  <a:pt x="7990205" y="907161"/>
                </a:lnTo>
                <a:cubicBezTo>
                  <a:pt x="7990205" y="1007364"/>
                  <a:pt x="7908925" y="1088644"/>
                  <a:pt x="7808722" y="1088644"/>
                </a:cubicBezTo>
                <a:lnTo>
                  <a:pt x="181483" y="1088644"/>
                </a:lnTo>
                <a:cubicBezTo>
                  <a:pt x="81280" y="1088517"/>
                  <a:pt x="0" y="1007364"/>
                  <a:pt x="0" y="907161"/>
                </a:cubicBezTo>
                <a:close/>
              </a:path>
            </a:pathLst>
          </a:custGeom>
          <a:solidFill>
            <a:srgbClr val="F5CBC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2539655" y="8303076"/>
            <a:ext cx="4834642" cy="816483"/>
          </a:xfrm>
          <a:custGeom>
            <a:avLst/>
            <a:gdLst/>
            <a:ahLst/>
            <a:cxnLst/>
            <a:rect l="l" t="t" r="r" b="b"/>
            <a:pathLst>
              <a:path w="6446190" h="1088644" extrusionOk="0">
                <a:moveTo>
                  <a:pt x="0" y="181483"/>
                </a:moveTo>
                <a:cubicBezTo>
                  <a:pt x="0" y="81280"/>
                  <a:pt x="65573" y="0"/>
                  <a:pt x="146413" y="0"/>
                </a:cubicBezTo>
                <a:lnTo>
                  <a:pt x="6299760" y="0"/>
                </a:lnTo>
                <a:cubicBezTo>
                  <a:pt x="6380600" y="0"/>
                  <a:pt x="6446190" y="81280"/>
                  <a:pt x="6446190" y="181483"/>
                </a:cubicBezTo>
                <a:lnTo>
                  <a:pt x="6446190" y="907161"/>
                </a:lnTo>
                <a:cubicBezTo>
                  <a:pt x="6446190" y="1007364"/>
                  <a:pt x="6380600" y="1088644"/>
                  <a:pt x="6299760" y="1088644"/>
                </a:cubicBezTo>
                <a:lnTo>
                  <a:pt x="146413" y="1088644"/>
                </a:lnTo>
                <a:cubicBezTo>
                  <a:pt x="65573" y="1088517"/>
                  <a:pt x="0" y="1007364"/>
                  <a:pt x="0" y="907161"/>
                </a:cubicBezTo>
                <a:close/>
              </a:path>
            </a:pathLst>
          </a:custGeom>
          <a:solidFill>
            <a:srgbClr val="F5CBC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11554494" y="4206125"/>
            <a:ext cx="3920670" cy="641963"/>
          </a:xfrm>
          <a:custGeom>
            <a:avLst/>
            <a:gdLst/>
            <a:ahLst/>
            <a:cxnLst/>
            <a:rect l="l" t="t" r="r" b="b"/>
            <a:pathLst>
              <a:path w="5941325" h="972820" extrusionOk="0">
                <a:moveTo>
                  <a:pt x="0" y="115189"/>
                </a:moveTo>
                <a:cubicBezTo>
                  <a:pt x="0" y="51562"/>
                  <a:pt x="49206" y="0"/>
                  <a:pt x="109926" y="0"/>
                </a:cubicBezTo>
                <a:lnTo>
                  <a:pt x="5831395" y="0"/>
                </a:lnTo>
                <a:cubicBezTo>
                  <a:pt x="5892115" y="0"/>
                  <a:pt x="5941325" y="51562"/>
                  <a:pt x="5941325" y="115189"/>
                </a:cubicBezTo>
                <a:lnTo>
                  <a:pt x="5941325" y="857631"/>
                </a:lnTo>
                <a:cubicBezTo>
                  <a:pt x="5941325" y="921258"/>
                  <a:pt x="5892115" y="972820"/>
                  <a:pt x="5831395" y="972820"/>
                </a:cubicBezTo>
                <a:lnTo>
                  <a:pt x="109926" y="972820"/>
                </a:lnTo>
                <a:cubicBezTo>
                  <a:pt x="49206" y="972820"/>
                  <a:pt x="0" y="921258"/>
                  <a:pt x="0" y="857631"/>
                </a:cubicBezTo>
                <a:close/>
              </a:path>
            </a:pathLst>
          </a:custGeom>
          <a:solidFill>
            <a:srgbClr val="F5CBC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" name="Google Shape;110;p2"/>
          <p:cNvGrpSpPr/>
          <p:nvPr/>
        </p:nvGrpSpPr>
        <p:grpSpPr>
          <a:xfrm>
            <a:off x="10602935" y="5577183"/>
            <a:ext cx="2690146" cy="2697289"/>
            <a:chOff x="0" y="-9525"/>
            <a:chExt cx="3586861" cy="3596386"/>
          </a:xfrm>
        </p:grpSpPr>
        <p:sp>
          <p:nvSpPr>
            <p:cNvPr id="111" name="Google Shape;111;p2"/>
            <p:cNvSpPr/>
            <p:nvPr/>
          </p:nvSpPr>
          <p:spPr>
            <a:xfrm>
              <a:off x="19050" y="19050"/>
              <a:ext cx="3548761" cy="3548761"/>
            </a:xfrm>
            <a:custGeom>
              <a:avLst/>
              <a:gdLst/>
              <a:ahLst/>
              <a:cxnLst/>
              <a:rect l="l" t="t" r="r" b="b"/>
              <a:pathLst>
                <a:path w="3548761" h="3548761" extrusionOk="0">
                  <a:moveTo>
                    <a:pt x="0" y="286639"/>
                  </a:moveTo>
                  <a:cubicBezTo>
                    <a:pt x="0" y="128397"/>
                    <a:pt x="128397" y="0"/>
                    <a:pt x="286639" y="0"/>
                  </a:cubicBezTo>
                  <a:lnTo>
                    <a:pt x="3262122" y="0"/>
                  </a:lnTo>
                  <a:cubicBezTo>
                    <a:pt x="3420491" y="0"/>
                    <a:pt x="3548761" y="128397"/>
                    <a:pt x="3548761" y="286639"/>
                  </a:cubicBezTo>
                  <a:lnTo>
                    <a:pt x="3548761" y="3262122"/>
                  </a:lnTo>
                  <a:cubicBezTo>
                    <a:pt x="3548761" y="3420491"/>
                    <a:pt x="3420364" y="3548761"/>
                    <a:pt x="3262122" y="3548761"/>
                  </a:cubicBezTo>
                  <a:lnTo>
                    <a:pt x="286639" y="3548761"/>
                  </a:lnTo>
                  <a:cubicBezTo>
                    <a:pt x="128270" y="3548761"/>
                    <a:pt x="0" y="3420364"/>
                    <a:pt x="0" y="32621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0" y="0"/>
              <a:ext cx="3586861" cy="3586861"/>
            </a:xfrm>
            <a:custGeom>
              <a:avLst/>
              <a:gdLst/>
              <a:ahLst/>
              <a:cxnLst/>
              <a:rect l="l" t="t" r="r" b="b"/>
              <a:pathLst>
                <a:path w="3586861" h="3586861" extrusionOk="0">
                  <a:moveTo>
                    <a:pt x="0" y="305689"/>
                  </a:moveTo>
                  <a:cubicBezTo>
                    <a:pt x="0" y="136906"/>
                    <a:pt x="136906" y="0"/>
                    <a:pt x="305689" y="0"/>
                  </a:cubicBezTo>
                  <a:lnTo>
                    <a:pt x="3281172" y="0"/>
                  </a:lnTo>
                  <a:lnTo>
                    <a:pt x="3281172" y="19050"/>
                  </a:lnTo>
                  <a:lnTo>
                    <a:pt x="3281172" y="0"/>
                  </a:lnTo>
                  <a:cubicBezTo>
                    <a:pt x="3449955" y="0"/>
                    <a:pt x="3586861" y="136906"/>
                    <a:pt x="3586861" y="305689"/>
                  </a:cubicBezTo>
                  <a:lnTo>
                    <a:pt x="3567811" y="305689"/>
                  </a:lnTo>
                  <a:lnTo>
                    <a:pt x="3586861" y="305689"/>
                  </a:lnTo>
                  <a:lnTo>
                    <a:pt x="3586861" y="3281172"/>
                  </a:lnTo>
                  <a:lnTo>
                    <a:pt x="3567811" y="3281172"/>
                  </a:lnTo>
                  <a:lnTo>
                    <a:pt x="3586861" y="3281172"/>
                  </a:lnTo>
                  <a:cubicBezTo>
                    <a:pt x="3586861" y="3449955"/>
                    <a:pt x="3449955" y="3586861"/>
                    <a:pt x="3281172" y="3586861"/>
                  </a:cubicBezTo>
                  <a:lnTo>
                    <a:pt x="3281172" y="3567811"/>
                  </a:lnTo>
                  <a:lnTo>
                    <a:pt x="3281172" y="3586861"/>
                  </a:lnTo>
                  <a:lnTo>
                    <a:pt x="305689" y="3586861"/>
                  </a:lnTo>
                  <a:lnTo>
                    <a:pt x="305689" y="3567811"/>
                  </a:lnTo>
                  <a:lnTo>
                    <a:pt x="305689" y="3586861"/>
                  </a:lnTo>
                  <a:cubicBezTo>
                    <a:pt x="136906" y="3586861"/>
                    <a:pt x="0" y="3449955"/>
                    <a:pt x="0" y="3281172"/>
                  </a:cubicBezTo>
                  <a:lnTo>
                    <a:pt x="0" y="305689"/>
                  </a:lnTo>
                  <a:lnTo>
                    <a:pt x="19050" y="305689"/>
                  </a:lnTo>
                  <a:lnTo>
                    <a:pt x="0" y="305689"/>
                  </a:lnTo>
                  <a:moveTo>
                    <a:pt x="38100" y="305689"/>
                  </a:moveTo>
                  <a:lnTo>
                    <a:pt x="38100" y="3281172"/>
                  </a:lnTo>
                  <a:lnTo>
                    <a:pt x="19050" y="3281172"/>
                  </a:lnTo>
                  <a:lnTo>
                    <a:pt x="38100" y="3281172"/>
                  </a:lnTo>
                  <a:cubicBezTo>
                    <a:pt x="38100" y="3429000"/>
                    <a:pt x="157861" y="3548761"/>
                    <a:pt x="305689" y="3548761"/>
                  </a:cubicBezTo>
                  <a:lnTo>
                    <a:pt x="3281172" y="3548761"/>
                  </a:lnTo>
                  <a:cubicBezTo>
                    <a:pt x="3429000" y="3548761"/>
                    <a:pt x="3548761" y="3429000"/>
                    <a:pt x="3548761" y="3281172"/>
                  </a:cubicBezTo>
                  <a:lnTo>
                    <a:pt x="3548761" y="305689"/>
                  </a:lnTo>
                  <a:cubicBezTo>
                    <a:pt x="3548761" y="157861"/>
                    <a:pt x="3428873" y="38100"/>
                    <a:pt x="3281172" y="38100"/>
                  </a:cubicBezTo>
                  <a:lnTo>
                    <a:pt x="305689" y="38100"/>
                  </a:lnTo>
                  <a:lnTo>
                    <a:pt x="305689" y="19050"/>
                  </a:lnTo>
                  <a:lnTo>
                    <a:pt x="305689" y="38100"/>
                  </a:lnTo>
                  <a:cubicBezTo>
                    <a:pt x="157861" y="38100"/>
                    <a:pt x="38100" y="157861"/>
                    <a:pt x="38100" y="305689"/>
                  </a:cubicBezTo>
                  <a:close/>
                </a:path>
              </a:pathLst>
            </a:custGeom>
            <a:solidFill>
              <a:srgbClr val="E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9525"/>
              <a:ext cx="3586848" cy="35963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Insert your professional photo</a:t>
              </a:r>
              <a:endParaRPr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10602935" y="8564313"/>
            <a:ext cx="2749302" cy="833155"/>
          </a:xfrm>
          <a:custGeom>
            <a:avLst/>
            <a:gdLst/>
            <a:ahLst/>
            <a:cxnLst/>
            <a:rect l="l" t="t" r="r" b="b"/>
            <a:pathLst>
              <a:path w="3210179" h="972820" extrusionOk="0">
                <a:moveTo>
                  <a:pt x="0" y="115189"/>
                </a:moveTo>
                <a:cubicBezTo>
                  <a:pt x="0" y="51562"/>
                  <a:pt x="51562" y="0"/>
                  <a:pt x="115189" y="0"/>
                </a:cubicBezTo>
                <a:lnTo>
                  <a:pt x="3094990" y="0"/>
                </a:lnTo>
                <a:cubicBezTo>
                  <a:pt x="3158617" y="0"/>
                  <a:pt x="3210179" y="51562"/>
                  <a:pt x="3210179" y="115189"/>
                </a:cubicBezTo>
                <a:lnTo>
                  <a:pt x="3210179" y="857631"/>
                </a:lnTo>
                <a:cubicBezTo>
                  <a:pt x="3210179" y="921258"/>
                  <a:pt x="3158617" y="972820"/>
                  <a:pt x="3094990" y="972820"/>
                </a:cubicBezTo>
                <a:lnTo>
                  <a:pt x="115189" y="972820"/>
                </a:lnTo>
                <a:cubicBezTo>
                  <a:pt x="51562" y="972820"/>
                  <a:pt x="0" y="921258"/>
                  <a:pt x="0" y="857631"/>
                </a:cubicBezTo>
                <a:close/>
              </a:path>
            </a:pathLst>
          </a:custGeom>
          <a:solidFill>
            <a:srgbClr val="F5CBC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2"/>
          <p:cNvGrpSpPr/>
          <p:nvPr/>
        </p:nvGrpSpPr>
        <p:grpSpPr>
          <a:xfrm>
            <a:off x="13856589" y="5584327"/>
            <a:ext cx="2690146" cy="2690146"/>
            <a:chOff x="0" y="0"/>
            <a:chExt cx="3586861" cy="3586861"/>
          </a:xfrm>
        </p:grpSpPr>
        <p:sp>
          <p:nvSpPr>
            <p:cNvPr id="116" name="Google Shape;116;p2"/>
            <p:cNvSpPr/>
            <p:nvPr/>
          </p:nvSpPr>
          <p:spPr>
            <a:xfrm>
              <a:off x="19050" y="19050"/>
              <a:ext cx="3548761" cy="3548761"/>
            </a:xfrm>
            <a:custGeom>
              <a:avLst/>
              <a:gdLst/>
              <a:ahLst/>
              <a:cxnLst/>
              <a:rect l="l" t="t" r="r" b="b"/>
              <a:pathLst>
                <a:path w="3548761" h="3548761" extrusionOk="0">
                  <a:moveTo>
                    <a:pt x="0" y="286639"/>
                  </a:moveTo>
                  <a:cubicBezTo>
                    <a:pt x="0" y="128397"/>
                    <a:pt x="128397" y="0"/>
                    <a:pt x="286639" y="0"/>
                  </a:cubicBezTo>
                  <a:lnTo>
                    <a:pt x="3262122" y="0"/>
                  </a:lnTo>
                  <a:cubicBezTo>
                    <a:pt x="3420491" y="0"/>
                    <a:pt x="3548761" y="128397"/>
                    <a:pt x="3548761" y="286639"/>
                  </a:cubicBezTo>
                  <a:lnTo>
                    <a:pt x="3548761" y="3262122"/>
                  </a:lnTo>
                  <a:cubicBezTo>
                    <a:pt x="3548761" y="3420491"/>
                    <a:pt x="3420364" y="3548761"/>
                    <a:pt x="3262122" y="3548761"/>
                  </a:cubicBezTo>
                  <a:lnTo>
                    <a:pt x="286639" y="3548761"/>
                  </a:lnTo>
                  <a:cubicBezTo>
                    <a:pt x="128270" y="3548761"/>
                    <a:pt x="0" y="3420364"/>
                    <a:pt x="0" y="32621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0" y="0"/>
              <a:ext cx="3586861" cy="3586861"/>
            </a:xfrm>
            <a:custGeom>
              <a:avLst/>
              <a:gdLst/>
              <a:ahLst/>
              <a:cxnLst/>
              <a:rect l="l" t="t" r="r" b="b"/>
              <a:pathLst>
                <a:path w="3586861" h="3586861" extrusionOk="0">
                  <a:moveTo>
                    <a:pt x="0" y="305689"/>
                  </a:moveTo>
                  <a:cubicBezTo>
                    <a:pt x="0" y="136906"/>
                    <a:pt x="136906" y="0"/>
                    <a:pt x="305689" y="0"/>
                  </a:cubicBezTo>
                  <a:lnTo>
                    <a:pt x="3281172" y="0"/>
                  </a:lnTo>
                  <a:lnTo>
                    <a:pt x="3281172" y="19050"/>
                  </a:lnTo>
                  <a:lnTo>
                    <a:pt x="3281172" y="0"/>
                  </a:lnTo>
                  <a:cubicBezTo>
                    <a:pt x="3449955" y="0"/>
                    <a:pt x="3586861" y="136906"/>
                    <a:pt x="3586861" y="305689"/>
                  </a:cubicBezTo>
                  <a:lnTo>
                    <a:pt x="3567811" y="305689"/>
                  </a:lnTo>
                  <a:lnTo>
                    <a:pt x="3586861" y="305689"/>
                  </a:lnTo>
                  <a:lnTo>
                    <a:pt x="3586861" y="3281172"/>
                  </a:lnTo>
                  <a:lnTo>
                    <a:pt x="3567811" y="3281172"/>
                  </a:lnTo>
                  <a:lnTo>
                    <a:pt x="3586861" y="3281172"/>
                  </a:lnTo>
                  <a:cubicBezTo>
                    <a:pt x="3586861" y="3449955"/>
                    <a:pt x="3449955" y="3586861"/>
                    <a:pt x="3281172" y="3586861"/>
                  </a:cubicBezTo>
                  <a:lnTo>
                    <a:pt x="3281172" y="3567811"/>
                  </a:lnTo>
                  <a:lnTo>
                    <a:pt x="3281172" y="3586861"/>
                  </a:lnTo>
                  <a:lnTo>
                    <a:pt x="305689" y="3586861"/>
                  </a:lnTo>
                  <a:lnTo>
                    <a:pt x="305689" y="3567811"/>
                  </a:lnTo>
                  <a:lnTo>
                    <a:pt x="305689" y="3586861"/>
                  </a:lnTo>
                  <a:cubicBezTo>
                    <a:pt x="136906" y="3586861"/>
                    <a:pt x="0" y="3449955"/>
                    <a:pt x="0" y="3281172"/>
                  </a:cubicBezTo>
                  <a:lnTo>
                    <a:pt x="0" y="305689"/>
                  </a:lnTo>
                  <a:lnTo>
                    <a:pt x="19050" y="305689"/>
                  </a:lnTo>
                  <a:lnTo>
                    <a:pt x="0" y="305689"/>
                  </a:lnTo>
                  <a:moveTo>
                    <a:pt x="38100" y="305689"/>
                  </a:moveTo>
                  <a:lnTo>
                    <a:pt x="38100" y="3281172"/>
                  </a:lnTo>
                  <a:lnTo>
                    <a:pt x="19050" y="3281172"/>
                  </a:lnTo>
                  <a:lnTo>
                    <a:pt x="38100" y="3281172"/>
                  </a:lnTo>
                  <a:cubicBezTo>
                    <a:pt x="38100" y="3429000"/>
                    <a:pt x="157861" y="3548761"/>
                    <a:pt x="305689" y="3548761"/>
                  </a:cubicBezTo>
                  <a:lnTo>
                    <a:pt x="3281172" y="3548761"/>
                  </a:lnTo>
                  <a:cubicBezTo>
                    <a:pt x="3429000" y="3548761"/>
                    <a:pt x="3548761" y="3429000"/>
                    <a:pt x="3548761" y="3281172"/>
                  </a:cubicBezTo>
                  <a:lnTo>
                    <a:pt x="3548761" y="305689"/>
                  </a:lnTo>
                  <a:cubicBezTo>
                    <a:pt x="3548761" y="157861"/>
                    <a:pt x="3428873" y="38100"/>
                    <a:pt x="3281172" y="38100"/>
                  </a:cubicBezTo>
                  <a:lnTo>
                    <a:pt x="305689" y="38100"/>
                  </a:lnTo>
                  <a:lnTo>
                    <a:pt x="305689" y="19050"/>
                  </a:lnTo>
                  <a:lnTo>
                    <a:pt x="305689" y="38100"/>
                  </a:lnTo>
                  <a:cubicBezTo>
                    <a:pt x="157861" y="38100"/>
                    <a:pt x="38100" y="157861"/>
                    <a:pt x="38100" y="305689"/>
                  </a:cubicBezTo>
                  <a:close/>
                </a:path>
              </a:pathLst>
            </a:custGeom>
            <a:solidFill>
              <a:srgbClr val="E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2"/>
          <p:cNvSpPr/>
          <p:nvPr/>
        </p:nvSpPr>
        <p:spPr>
          <a:xfrm>
            <a:off x="13755846" y="8569738"/>
            <a:ext cx="2891665" cy="827729"/>
          </a:xfrm>
          <a:custGeom>
            <a:avLst/>
            <a:gdLst/>
            <a:ahLst/>
            <a:cxnLst/>
            <a:rect l="l" t="t" r="r" b="b"/>
            <a:pathLst>
              <a:path w="3398539" h="972820" extrusionOk="0">
                <a:moveTo>
                  <a:pt x="0" y="115189"/>
                </a:moveTo>
                <a:cubicBezTo>
                  <a:pt x="0" y="51562"/>
                  <a:pt x="54587" y="0"/>
                  <a:pt x="121948" y="0"/>
                </a:cubicBezTo>
                <a:lnTo>
                  <a:pt x="3276594" y="0"/>
                </a:lnTo>
                <a:cubicBezTo>
                  <a:pt x="3343954" y="0"/>
                  <a:pt x="3398539" y="51562"/>
                  <a:pt x="3398539" y="115189"/>
                </a:cubicBezTo>
                <a:lnTo>
                  <a:pt x="3398539" y="857631"/>
                </a:lnTo>
                <a:cubicBezTo>
                  <a:pt x="3398539" y="921258"/>
                  <a:pt x="3343954" y="972820"/>
                  <a:pt x="3276594" y="972820"/>
                </a:cubicBezTo>
                <a:lnTo>
                  <a:pt x="121948" y="972820"/>
                </a:lnTo>
                <a:cubicBezTo>
                  <a:pt x="54587" y="972820"/>
                  <a:pt x="0" y="921258"/>
                  <a:pt x="0" y="857631"/>
                </a:cubicBezTo>
                <a:close/>
              </a:path>
            </a:pathLst>
          </a:custGeom>
          <a:solidFill>
            <a:srgbClr val="F5CBC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12148395" y="1221610"/>
            <a:ext cx="2690146" cy="2690146"/>
            <a:chOff x="0" y="0"/>
            <a:chExt cx="3586861" cy="3586861"/>
          </a:xfrm>
        </p:grpSpPr>
        <p:sp>
          <p:nvSpPr>
            <p:cNvPr id="120" name="Google Shape;120;p2"/>
            <p:cNvSpPr/>
            <p:nvPr/>
          </p:nvSpPr>
          <p:spPr>
            <a:xfrm>
              <a:off x="19050" y="19050"/>
              <a:ext cx="3548761" cy="3548761"/>
            </a:xfrm>
            <a:custGeom>
              <a:avLst/>
              <a:gdLst/>
              <a:ahLst/>
              <a:cxnLst/>
              <a:rect l="l" t="t" r="r" b="b"/>
              <a:pathLst>
                <a:path w="3548761" h="3548761" extrusionOk="0">
                  <a:moveTo>
                    <a:pt x="0" y="286639"/>
                  </a:moveTo>
                  <a:cubicBezTo>
                    <a:pt x="0" y="128397"/>
                    <a:pt x="128397" y="0"/>
                    <a:pt x="286639" y="0"/>
                  </a:cubicBezTo>
                  <a:lnTo>
                    <a:pt x="3262122" y="0"/>
                  </a:lnTo>
                  <a:cubicBezTo>
                    <a:pt x="3420491" y="0"/>
                    <a:pt x="3548761" y="128397"/>
                    <a:pt x="3548761" y="286639"/>
                  </a:cubicBezTo>
                  <a:lnTo>
                    <a:pt x="3548761" y="3262122"/>
                  </a:lnTo>
                  <a:cubicBezTo>
                    <a:pt x="3548761" y="3420491"/>
                    <a:pt x="3420364" y="3548761"/>
                    <a:pt x="3262122" y="3548761"/>
                  </a:cubicBezTo>
                  <a:lnTo>
                    <a:pt x="286639" y="3548761"/>
                  </a:lnTo>
                  <a:cubicBezTo>
                    <a:pt x="128270" y="3548761"/>
                    <a:pt x="0" y="3420364"/>
                    <a:pt x="0" y="32621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0" y="0"/>
              <a:ext cx="3586861" cy="3586861"/>
            </a:xfrm>
            <a:custGeom>
              <a:avLst/>
              <a:gdLst/>
              <a:ahLst/>
              <a:cxnLst/>
              <a:rect l="l" t="t" r="r" b="b"/>
              <a:pathLst>
                <a:path w="3586861" h="3586861" extrusionOk="0">
                  <a:moveTo>
                    <a:pt x="0" y="305689"/>
                  </a:moveTo>
                  <a:cubicBezTo>
                    <a:pt x="0" y="136906"/>
                    <a:pt x="136906" y="0"/>
                    <a:pt x="305689" y="0"/>
                  </a:cubicBezTo>
                  <a:lnTo>
                    <a:pt x="3281172" y="0"/>
                  </a:lnTo>
                  <a:lnTo>
                    <a:pt x="3281172" y="19050"/>
                  </a:lnTo>
                  <a:lnTo>
                    <a:pt x="3281172" y="0"/>
                  </a:lnTo>
                  <a:cubicBezTo>
                    <a:pt x="3449955" y="0"/>
                    <a:pt x="3586861" y="136906"/>
                    <a:pt x="3586861" y="305689"/>
                  </a:cubicBezTo>
                  <a:lnTo>
                    <a:pt x="3567811" y="305689"/>
                  </a:lnTo>
                  <a:lnTo>
                    <a:pt x="3586861" y="305689"/>
                  </a:lnTo>
                  <a:lnTo>
                    <a:pt x="3586861" y="3281172"/>
                  </a:lnTo>
                  <a:lnTo>
                    <a:pt x="3567811" y="3281172"/>
                  </a:lnTo>
                  <a:lnTo>
                    <a:pt x="3586861" y="3281172"/>
                  </a:lnTo>
                  <a:cubicBezTo>
                    <a:pt x="3586861" y="3449955"/>
                    <a:pt x="3449955" y="3586861"/>
                    <a:pt x="3281172" y="3586861"/>
                  </a:cubicBezTo>
                  <a:lnTo>
                    <a:pt x="3281172" y="3567811"/>
                  </a:lnTo>
                  <a:lnTo>
                    <a:pt x="3281172" y="3586861"/>
                  </a:lnTo>
                  <a:lnTo>
                    <a:pt x="305689" y="3586861"/>
                  </a:lnTo>
                  <a:lnTo>
                    <a:pt x="305689" y="3567811"/>
                  </a:lnTo>
                  <a:lnTo>
                    <a:pt x="305689" y="3586861"/>
                  </a:lnTo>
                  <a:cubicBezTo>
                    <a:pt x="136906" y="3586861"/>
                    <a:pt x="0" y="3449955"/>
                    <a:pt x="0" y="3281172"/>
                  </a:cubicBezTo>
                  <a:lnTo>
                    <a:pt x="0" y="305689"/>
                  </a:lnTo>
                  <a:lnTo>
                    <a:pt x="19050" y="305689"/>
                  </a:lnTo>
                  <a:lnTo>
                    <a:pt x="0" y="305689"/>
                  </a:lnTo>
                  <a:moveTo>
                    <a:pt x="38100" y="305689"/>
                  </a:moveTo>
                  <a:lnTo>
                    <a:pt x="38100" y="3281172"/>
                  </a:lnTo>
                  <a:lnTo>
                    <a:pt x="19050" y="3281172"/>
                  </a:lnTo>
                  <a:lnTo>
                    <a:pt x="38100" y="3281172"/>
                  </a:lnTo>
                  <a:cubicBezTo>
                    <a:pt x="38100" y="3429000"/>
                    <a:pt x="157861" y="3548761"/>
                    <a:pt x="305689" y="3548761"/>
                  </a:cubicBezTo>
                  <a:lnTo>
                    <a:pt x="3281172" y="3548761"/>
                  </a:lnTo>
                  <a:cubicBezTo>
                    <a:pt x="3429000" y="3548761"/>
                    <a:pt x="3548761" y="3429000"/>
                    <a:pt x="3548761" y="3281172"/>
                  </a:cubicBezTo>
                  <a:lnTo>
                    <a:pt x="3548761" y="305689"/>
                  </a:lnTo>
                  <a:cubicBezTo>
                    <a:pt x="3548761" y="157861"/>
                    <a:pt x="3428873" y="38100"/>
                    <a:pt x="3281172" y="38100"/>
                  </a:cubicBezTo>
                  <a:lnTo>
                    <a:pt x="305689" y="38100"/>
                  </a:lnTo>
                  <a:lnTo>
                    <a:pt x="305689" y="19050"/>
                  </a:lnTo>
                  <a:lnTo>
                    <a:pt x="305689" y="38100"/>
                  </a:lnTo>
                  <a:cubicBezTo>
                    <a:pt x="157861" y="38100"/>
                    <a:pt x="38100" y="157861"/>
                    <a:pt x="38100" y="305689"/>
                  </a:cubicBezTo>
                  <a:close/>
                </a:path>
              </a:pathLst>
            </a:custGeom>
            <a:solidFill>
              <a:srgbClr val="E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2"/>
          <p:cNvSpPr/>
          <p:nvPr/>
        </p:nvSpPr>
        <p:spPr>
          <a:xfrm>
            <a:off x="12326827" y="1400042"/>
            <a:ext cx="2333272" cy="2333272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76315" y="0"/>
                </a:moveTo>
                <a:lnTo>
                  <a:pt x="736485" y="0"/>
                </a:lnTo>
                <a:cubicBezTo>
                  <a:pt x="756725" y="0"/>
                  <a:pt x="776136" y="8040"/>
                  <a:pt x="790448" y="22352"/>
                </a:cubicBezTo>
                <a:cubicBezTo>
                  <a:pt x="804760" y="36664"/>
                  <a:pt x="812800" y="56075"/>
                  <a:pt x="812800" y="76315"/>
                </a:cubicBezTo>
                <a:lnTo>
                  <a:pt x="812800" y="736485"/>
                </a:lnTo>
                <a:cubicBezTo>
                  <a:pt x="812800" y="756725"/>
                  <a:pt x="804760" y="776136"/>
                  <a:pt x="790448" y="790448"/>
                </a:cubicBezTo>
                <a:cubicBezTo>
                  <a:pt x="776136" y="804760"/>
                  <a:pt x="756725" y="812800"/>
                  <a:pt x="736485" y="812800"/>
                </a:cubicBezTo>
                <a:lnTo>
                  <a:pt x="76315" y="812800"/>
                </a:lnTo>
                <a:cubicBezTo>
                  <a:pt x="56075" y="812800"/>
                  <a:pt x="36664" y="804760"/>
                  <a:pt x="22352" y="790448"/>
                </a:cubicBezTo>
                <a:cubicBezTo>
                  <a:pt x="8040" y="776136"/>
                  <a:pt x="0" y="756725"/>
                  <a:pt x="0" y="736485"/>
                </a:cubicBezTo>
                <a:lnTo>
                  <a:pt x="0" y="76315"/>
                </a:lnTo>
                <a:cubicBezTo>
                  <a:pt x="0" y="56075"/>
                  <a:pt x="8040" y="36664"/>
                  <a:pt x="22352" y="22352"/>
                </a:cubicBezTo>
                <a:cubicBezTo>
                  <a:pt x="36664" y="8040"/>
                  <a:pt x="56075" y="0"/>
                  <a:pt x="76315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25904" t="-13869" r="-29648" b="-11931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14035021" y="5778022"/>
            <a:ext cx="2333272" cy="2333272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76315" y="0"/>
                </a:moveTo>
                <a:lnTo>
                  <a:pt x="736485" y="0"/>
                </a:lnTo>
                <a:cubicBezTo>
                  <a:pt x="756725" y="0"/>
                  <a:pt x="776136" y="8040"/>
                  <a:pt x="790448" y="22352"/>
                </a:cubicBezTo>
                <a:cubicBezTo>
                  <a:pt x="804760" y="36664"/>
                  <a:pt x="812800" y="56075"/>
                  <a:pt x="812800" y="76315"/>
                </a:cubicBezTo>
                <a:lnTo>
                  <a:pt x="812800" y="736485"/>
                </a:lnTo>
                <a:cubicBezTo>
                  <a:pt x="812800" y="756725"/>
                  <a:pt x="804760" y="776136"/>
                  <a:pt x="790448" y="790448"/>
                </a:cubicBezTo>
                <a:cubicBezTo>
                  <a:pt x="776136" y="804760"/>
                  <a:pt x="756725" y="812800"/>
                  <a:pt x="736485" y="812800"/>
                </a:cubicBezTo>
                <a:lnTo>
                  <a:pt x="76315" y="812800"/>
                </a:lnTo>
                <a:cubicBezTo>
                  <a:pt x="56075" y="812800"/>
                  <a:pt x="36664" y="804760"/>
                  <a:pt x="22352" y="790448"/>
                </a:cubicBezTo>
                <a:cubicBezTo>
                  <a:pt x="8040" y="776136"/>
                  <a:pt x="0" y="756725"/>
                  <a:pt x="0" y="736485"/>
                </a:cubicBezTo>
                <a:lnTo>
                  <a:pt x="0" y="76315"/>
                </a:lnTo>
                <a:cubicBezTo>
                  <a:pt x="0" y="56075"/>
                  <a:pt x="8040" y="36664"/>
                  <a:pt x="22352" y="22352"/>
                </a:cubicBezTo>
                <a:cubicBezTo>
                  <a:pt x="36664" y="8040"/>
                  <a:pt x="56075" y="0"/>
                  <a:pt x="76315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26597" r="-26814" b="-534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10781367" y="5778022"/>
            <a:ext cx="2333272" cy="2333272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76315" y="0"/>
                </a:moveTo>
                <a:lnTo>
                  <a:pt x="736485" y="0"/>
                </a:lnTo>
                <a:cubicBezTo>
                  <a:pt x="756725" y="0"/>
                  <a:pt x="776136" y="8040"/>
                  <a:pt x="790448" y="22352"/>
                </a:cubicBezTo>
                <a:cubicBezTo>
                  <a:pt x="804760" y="36664"/>
                  <a:pt x="812800" y="56075"/>
                  <a:pt x="812800" y="76315"/>
                </a:cubicBezTo>
                <a:lnTo>
                  <a:pt x="812800" y="736485"/>
                </a:lnTo>
                <a:cubicBezTo>
                  <a:pt x="812800" y="756725"/>
                  <a:pt x="804760" y="776136"/>
                  <a:pt x="790448" y="790448"/>
                </a:cubicBezTo>
                <a:cubicBezTo>
                  <a:pt x="776136" y="804760"/>
                  <a:pt x="756725" y="812800"/>
                  <a:pt x="736485" y="812800"/>
                </a:cubicBezTo>
                <a:lnTo>
                  <a:pt x="76315" y="812800"/>
                </a:lnTo>
                <a:cubicBezTo>
                  <a:pt x="56075" y="812800"/>
                  <a:pt x="36664" y="804760"/>
                  <a:pt x="22352" y="790448"/>
                </a:cubicBezTo>
                <a:cubicBezTo>
                  <a:pt x="8040" y="776136"/>
                  <a:pt x="0" y="756725"/>
                  <a:pt x="0" y="736485"/>
                </a:cubicBezTo>
                <a:lnTo>
                  <a:pt x="0" y="76315"/>
                </a:lnTo>
                <a:cubicBezTo>
                  <a:pt x="0" y="56075"/>
                  <a:pt x="8040" y="36664"/>
                  <a:pt x="22352" y="22352"/>
                </a:cubicBezTo>
                <a:cubicBezTo>
                  <a:pt x="36664" y="8040"/>
                  <a:pt x="56075" y="0"/>
                  <a:pt x="76315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25031" t="-52413" r="-32440" b="-5755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5731794" y="2009775"/>
            <a:ext cx="2710080" cy="1463443"/>
          </a:xfrm>
          <a:custGeom>
            <a:avLst/>
            <a:gdLst/>
            <a:ahLst/>
            <a:cxnLst/>
            <a:rect l="l" t="t" r="r" b="b"/>
            <a:pathLst>
              <a:path w="2710080" h="1463443" extrusionOk="0">
                <a:moveTo>
                  <a:pt x="0" y="0"/>
                </a:moveTo>
                <a:lnTo>
                  <a:pt x="2710080" y="0"/>
                </a:lnTo>
                <a:lnTo>
                  <a:pt x="2710080" y="1463443"/>
                </a:lnTo>
                <a:lnTo>
                  <a:pt x="0" y="1463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307334" y="812006"/>
            <a:ext cx="8491538" cy="664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E60000"/>
                </a:solidFill>
                <a:latin typeface="Arimo"/>
                <a:ea typeface="Arimo"/>
                <a:cs typeface="Arimo"/>
                <a:sym typeface="Arimo"/>
              </a:rPr>
              <a:t>Project Title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2827696" y="4517565"/>
            <a:ext cx="4258494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Number : 15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2202311" y="8342496"/>
            <a:ext cx="5509265" cy="71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19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Pune Institute of Computer Technology, Pune-411043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1194803" y="4218323"/>
            <a:ext cx="4597320" cy="598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2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Srujan Satav,Electronics and Telecommunication Engineering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10602935" y="8705820"/>
            <a:ext cx="2749258" cy="55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9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Kanishka Salgude,</a:t>
            </a:r>
            <a:endParaRPr/>
          </a:p>
          <a:p>
            <a:pPr marL="0" marR="0" lvl="0" indent="0" algn="ctr" rtl="0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9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Technology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3959926" y="8628439"/>
            <a:ext cx="2483462" cy="70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Sanskar Tiwari,Electronics and Telecommunication Engineering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1440250" y="2193875"/>
            <a:ext cx="49536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32" b="1">
                <a:solidFill>
                  <a:srgbClr val="2E946B"/>
                </a:solidFill>
                <a:latin typeface="Arial"/>
                <a:ea typeface="Arial"/>
                <a:cs typeface="Arial"/>
                <a:sym typeface="Arial"/>
              </a:rPr>
              <a:t>Krishi</a:t>
            </a:r>
            <a:r>
              <a:rPr lang="en-US" sz="5932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Saarthi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/>
          <p:nvPr/>
        </p:nvSpPr>
        <p:spPr>
          <a:xfrm rot="10800000">
            <a:off x="8278587" y="9977571"/>
            <a:ext cx="10727874" cy="652329"/>
          </a:xfrm>
          <a:custGeom>
            <a:avLst/>
            <a:gdLst/>
            <a:ahLst/>
            <a:cxnLst/>
            <a:rect l="l" t="t" r="r" b="b"/>
            <a:pathLst>
              <a:path w="10727874" h="652329" extrusionOk="0">
                <a:moveTo>
                  <a:pt x="10727874" y="652329"/>
                </a:moveTo>
                <a:lnTo>
                  <a:pt x="0" y="652329"/>
                </a:lnTo>
                <a:lnTo>
                  <a:pt x="0" y="0"/>
                </a:lnTo>
                <a:lnTo>
                  <a:pt x="10727874" y="0"/>
                </a:lnTo>
                <a:lnTo>
                  <a:pt x="10727874" y="652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5272" b="-652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0" y="9976752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-933298" y="-19050"/>
            <a:ext cx="10972800" cy="589950"/>
          </a:xfrm>
          <a:custGeom>
            <a:avLst/>
            <a:gdLst/>
            <a:ahLst/>
            <a:cxnLst/>
            <a:rect l="l" t="t" r="r" b="b"/>
            <a:pathLst>
              <a:path w="10972800" h="589950" extrusionOk="0">
                <a:moveTo>
                  <a:pt x="0" y="0"/>
                </a:moveTo>
                <a:lnTo>
                  <a:pt x="10972800" y="0"/>
                </a:lnTo>
                <a:lnTo>
                  <a:pt x="10972800" y="589950"/>
                </a:lnTo>
                <a:lnTo>
                  <a:pt x="0" y="58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773" b="-807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10039502" y="-33261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0" y="2796501"/>
            <a:ext cx="12306300" cy="50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45914" marR="0" lvl="1" indent="-303907" algn="just" rtl="0">
              <a:lnSpc>
                <a:spcPct val="113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1"/>
              <a:buFont typeface="Arial"/>
              <a:buChar char="•"/>
            </a:pPr>
            <a:r>
              <a:rPr lang="en-US" sz="2691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Diagnostic Blindness: </a:t>
            </a:r>
            <a:r>
              <a:rPr lang="en-US" sz="269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Delayed diagnosis = 20% yield lost. ₹50K-₹1.5L gone. 86% small farmers can't afford it.</a:t>
            </a:r>
            <a:endParaRPr sz="1100"/>
          </a:p>
          <a:p>
            <a:pPr marL="0" marR="0" lvl="0" indent="0" algn="just" rtl="0">
              <a:lnSpc>
                <a:spcPct val="113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9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45914" marR="0" lvl="1" indent="-303907" algn="just" rtl="0">
              <a:lnSpc>
                <a:spcPct val="113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1"/>
              <a:buFont typeface="Arial"/>
              <a:buChar char="•"/>
            </a:pPr>
            <a:r>
              <a:rPr lang="en-US" sz="2691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₹15,000 Crore Bonfire: </a:t>
            </a:r>
            <a:r>
              <a:rPr lang="en-US" sz="269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23M tonnes burned. ₹25K-₹50K/year torched. Waste = wealth. Nobody told them.</a:t>
            </a:r>
            <a:endParaRPr sz="1100"/>
          </a:p>
          <a:p>
            <a:pPr marL="0" marR="0" lvl="0" indent="0" algn="just" rtl="0">
              <a:lnSpc>
                <a:spcPct val="113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9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45914" marR="0" lvl="1" indent="-303907" algn="just" rtl="0">
              <a:lnSpc>
                <a:spcPct val="113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1"/>
              <a:buFont typeface="Arial"/>
              <a:buChar char="•"/>
            </a:pPr>
            <a:r>
              <a:rPr lang="en-US" sz="2691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Capital Annihilation:</a:t>
            </a:r>
            <a:r>
              <a:rPr lang="en-US" sz="269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"Jewar Effect" - crores of compensation vanishes. Farmers trade land for cash, then burn it on liabilities. Result: Back to poverty in 3 years.</a:t>
            </a:r>
            <a:endParaRPr sz="1100"/>
          </a:p>
          <a:p>
            <a:pPr marL="0" marR="0" lvl="0" indent="0" algn="just" rtl="0">
              <a:lnSpc>
                <a:spcPct val="113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endParaRPr sz="2491"/>
          </a:p>
          <a:p>
            <a:pPr marL="645914" marR="0" lvl="1" indent="-303907" algn="just" rtl="0">
              <a:lnSpc>
                <a:spcPct val="113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1"/>
              <a:buFont typeface="Arial"/>
              <a:buChar char="•"/>
            </a:pPr>
            <a:r>
              <a:rPr lang="en-US" sz="2691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Sustainability Exploitation: </a:t>
            </a:r>
            <a:r>
              <a:rPr lang="en-US" sz="269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Farmers go green. Corporates profit billions. Farmer gets nothing.</a:t>
            </a:r>
            <a:endParaRPr sz="1100"/>
          </a:p>
        </p:txBody>
      </p:sp>
      <p:sp>
        <p:nvSpPr>
          <p:cNvPr id="146" name="Google Shape;146;p3"/>
          <p:cNvSpPr/>
          <p:nvPr/>
        </p:nvSpPr>
        <p:spPr>
          <a:xfrm>
            <a:off x="13472576" y="1307880"/>
            <a:ext cx="3786724" cy="3747379"/>
          </a:xfrm>
          <a:custGeom>
            <a:avLst/>
            <a:gdLst/>
            <a:ahLst/>
            <a:cxnLst/>
            <a:rect l="l" t="t" r="r" b="b"/>
            <a:pathLst>
              <a:path w="3786724" h="3747379" extrusionOk="0">
                <a:moveTo>
                  <a:pt x="0" y="0"/>
                </a:moveTo>
                <a:lnTo>
                  <a:pt x="3786724" y="0"/>
                </a:lnTo>
                <a:lnTo>
                  <a:pt x="3786724" y="3747379"/>
                </a:lnTo>
                <a:lnTo>
                  <a:pt x="0" y="37473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687" t="-3376" r="-117528" b="-17441"/>
            </a:stretch>
          </a:blipFill>
          <a:ln w="38100" cap="sq" cmpd="sng">
            <a:solidFill>
              <a:srgbClr val="E6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13472576" y="5462716"/>
            <a:ext cx="3786724" cy="4107398"/>
          </a:xfrm>
          <a:custGeom>
            <a:avLst/>
            <a:gdLst/>
            <a:ahLst/>
            <a:cxnLst/>
            <a:rect l="l" t="t" r="r" b="b"/>
            <a:pathLst>
              <a:path w="3786724" h="4107398" extrusionOk="0">
                <a:moveTo>
                  <a:pt x="0" y="0"/>
                </a:moveTo>
                <a:lnTo>
                  <a:pt x="3786724" y="0"/>
                </a:lnTo>
                <a:lnTo>
                  <a:pt x="3786724" y="4107398"/>
                </a:lnTo>
                <a:lnTo>
                  <a:pt x="0" y="4107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32124" t="-18536" r="-11207" b="-3823"/>
            </a:stretch>
          </a:blipFill>
          <a:ln w="38100" cap="sq" cmpd="sng">
            <a:solidFill>
              <a:srgbClr val="E6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326597" y="653877"/>
            <a:ext cx="8490861" cy="721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E60000"/>
                </a:solidFill>
                <a:latin typeface="Arimo"/>
                <a:ea typeface="Arimo"/>
                <a:cs typeface="Arimo"/>
                <a:sym typeface="Arimo"/>
              </a:rPr>
              <a:t>Problem Statement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367434" y="1535210"/>
            <a:ext cx="11938892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49" b="1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The Challenge:</a:t>
            </a:r>
            <a:r>
              <a:rPr lang="en-US" sz="2849" b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Indian farmers aren't just struggling - they're systematically losing money they should be making.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183116" y="8382872"/>
            <a:ext cx="130521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This isn't inefficiency - it's a ₹15,000 crore market begging for disruption.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367434" y="9312939"/>
            <a:ext cx="10332551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5" i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Sources: Agricultural Census 2015-16 | ICAR Crop Loss Report 2023 | NITI Aayog Land Compensation Study 2022 | Jewar and Purandar Airport compensation case study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 rot="10800000">
            <a:off x="8278587" y="9977571"/>
            <a:ext cx="10727874" cy="652329"/>
          </a:xfrm>
          <a:custGeom>
            <a:avLst/>
            <a:gdLst/>
            <a:ahLst/>
            <a:cxnLst/>
            <a:rect l="l" t="t" r="r" b="b"/>
            <a:pathLst>
              <a:path w="10727874" h="652329" extrusionOk="0">
                <a:moveTo>
                  <a:pt x="10727874" y="652329"/>
                </a:moveTo>
                <a:lnTo>
                  <a:pt x="0" y="652329"/>
                </a:lnTo>
                <a:lnTo>
                  <a:pt x="0" y="0"/>
                </a:lnTo>
                <a:lnTo>
                  <a:pt x="10727874" y="0"/>
                </a:lnTo>
                <a:lnTo>
                  <a:pt x="10727874" y="652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5272" b="-652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0" y="9976752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-933298" y="-19050"/>
            <a:ext cx="10972800" cy="589950"/>
          </a:xfrm>
          <a:custGeom>
            <a:avLst/>
            <a:gdLst/>
            <a:ahLst/>
            <a:cxnLst/>
            <a:rect l="l" t="t" r="r" b="b"/>
            <a:pathLst>
              <a:path w="10972800" h="589950" extrusionOk="0">
                <a:moveTo>
                  <a:pt x="0" y="0"/>
                </a:moveTo>
                <a:lnTo>
                  <a:pt x="10972800" y="0"/>
                </a:lnTo>
                <a:lnTo>
                  <a:pt x="10972800" y="589950"/>
                </a:lnTo>
                <a:lnTo>
                  <a:pt x="0" y="58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773" b="-807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10039502" y="-33261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7232059" y="3921587"/>
            <a:ext cx="3418743" cy="3344152"/>
          </a:xfrm>
          <a:custGeom>
            <a:avLst/>
            <a:gdLst/>
            <a:ahLst/>
            <a:cxnLst/>
            <a:rect l="l" t="t" r="r" b="b"/>
            <a:pathLst>
              <a:path w="3418743" h="3344152" extrusionOk="0">
                <a:moveTo>
                  <a:pt x="0" y="0"/>
                </a:moveTo>
                <a:lnTo>
                  <a:pt x="3418743" y="0"/>
                </a:lnTo>
                <a:lnTo>
                  <a:pt x="3418743" y="3344153"/>
                </a:lnTo>
                <a:lnTo>
                  <a:pt x="0" y="3344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4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" name="Google Shape;165;p4"/>
          <p:cNvGrpSpPr/>
          <p:nvPr/>
        </p:nvGrpSpPr>
        <p:grpSpPr>
          <a:xfrm>
            <a:off x="9841549" y="1788533"/>
            <a:ext cx="7601950" cy="7327202"/>
            <a:chOff x="0" y="-19050"/>
            <a:chExt cx="2002160" cy="1929798"/>
          </a:xfrm>
        </p:grpSpPr>
        <p:sp>
          <p:nvSpPr>
            <p:cNvPr id="166" name="Google Shape;166;p4"/>
            <p:cNvSpPr/>
            <p:nvPr/>
          </p:nvSpPr>
          <p:spPr>
            <a:xfrm>
              <a:off x="0" y="0"/>
              <a:ext cx="2002160" cy="1910748"/>
            </a:xfrm>
            <a:custGeom>
              <a:avLst/>
              <a:gdLst/>
              <a:ahLst/>
              <a:cxnLst/>
              <a:rect l="l" t="t" r="r" b="b"/>
              <a:pathLst>
                <a:path w="2002160" h="1910748" extrusionOk="0">
                  <a:moveTo>
                    <a:pt x="81473" y="0"/>
                  </a:moveTo>
                  <a:lnTo>
                    <a:pt x="1920687" y="0"/>
                  </a:lnTo>
                  <a:cubicBezTo>
                    <a:pt x="1942295" y="0"/>
                    <a:pt x="1963018" y="8584"/>
                    <a:pt x="1978297" y="23863"/>
                  </a:cubicBezTo>
                  <a:cubicBezTo>
                    <a:pt x="1993576" y="39142"/>
                    <a:pt x="2002160" y="59865"/>
                    <a:pt x="2002160" y="81473"/>
                  </a:cubicBezTo>
                  <a:lnTo>
                    <a:pt x="2002160" y="1829275"/>
                  </a:lnTo>
                  <a:cubicBezTo>
                    <a:pt x="2002160" y="1874272"/>
                    <a:pt x="1965683" y="1910748"/>
                    <a:pt x="1920687" y="1910748"/>
                  </a:cubicBezTo>
                  <a:lnTo>
                    <a:pt x="81473" y="1910748"/>
                  </a:lnTo>
                  <a:cubicBezTo>
                    <a:pt x="36477" y="1910748"/>
                    <a:pt x="0" y="1874272"/>
                    <a:pt x="0" y="1829275"/>
                  </a:cubicBezTo>
                  <a:lnTo>
                    <a:pt x="0" y="81473"/>
                  </a:lnTo>
                  <a:cubicBezTo>
                    <a:pt x="0" y="36477"/>
                    <a:pt x="36477" y="0"/>
                    <a:pt x="81473" y="0"/>
                  </a:cubicBezTo>
                  <a:close/>
                </a:path>
              </a:pathLst>
            </a:custGeom>
            <a:solidFill>
              <a:srgbClr val="E8FFCB"/>
            </a:solidFill>
            <a:ln w="38100" cap="rnd" cmpd="sng">
              <a:solidFill>
                <a:srgbClr val="2E94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0" y="-19050"/>
              <a:ext cx="2002160" cy="1929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7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4"/>
          <p:cNvGrpSpPr/>
          <p:nvPr/>
        </p:nvGrpSpPr>
        <p:grpSpPr>
          <a:xfrm>
            <a:off x="-62914" y="1860863"/>
            <a:ext cx="8341501" cy="7629973"/>
            <a:chOff x="0" y="0"/>
            <a:chExt cx="11122002" cy="10173298"/>
          </a:xfrm>
        </p:grpSpPr>
        <p:sp>
          <p:nvSpPr>
            <p:cNvPr id="169" name="Google Shape;169;p4"/>
            <p:cNvSpPr/>
            <p:nvPr/>
          </p:nvSpPr>
          <p:spPr>
            <a:xfrm>
              <a:off x="0" y="0"/>
              <a:ext cx="5329362" cy="4823182"/>
            </a:xfrm>
            <a:custGeom>
              <a:avLst/>
              <a:gdLst/>
              <a:ahLst/>
              <a:cxnLst/>
              <a:rect l="l" t="t" r="r" b="b"/>
              <a:pathLst>
                <a:path w="5329362" h="4823182" extrusionOk="0">
                  <a:moveTo>
                    <a:pt x="0" y="0"/>
                  </a:moveTo>
                  <a:lnTo>
                    <a:pt x="5329362" y="0"/>
                  </a:lnTo>
                  <a:lnTo>
                    <a:pt x="5329362" y="4823182"/>
                  </a:lnTo>
                  <a:lnTo>
                    <a:pt x="0" y="482318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50000"/>
              </a:blip>
              <a:stretch>
                <a:fillRect l="-3214" t="-14411" r="-123167" b="-13573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4"/>
            <p:cNvSpPr txBox="1"/>
            <p:nvPr/>
          </p:nvSpPr>
          <p:spPr>
            <a:xfrm>
              <a:off x="1002689" y="526598"/>
              <a:ext cx="4389096" cy="95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29" b="1">
                  <a:solidFill>
                    <a:srgbClr val="2C3E50"/>
                  </a:solidFill>
                  <a:latin typeface="Arimo"/>
                  <a:ea typeface="Arimo"/>
                  <a:cs typeface="Arimo"/>
                  <a:sym typeface="Arimo"/>
                </a:rPr>
                <a:t>Green Credits</a:t>
              </a:r>
              <a:endParaRPr/>
            </a:p>
            <a:p>
              <a:pPr marL="0" marR="0" lvl="0" indent="0" algn="just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29" b="1">
                  <a:solidFill>
                    <a:srgbClr val="2C3E50"/>
                  </a:solidFill>
                  <a:latin typeface="Arimo"/>
                  <a:ea typeface="Arimo"/>
                  <a:cs typeface="Arimo"/>
                  <a:sym typeface="Arimo"/>
                </a:rPr>
                <a:t>Exist on paper only. </a:t>
              </a:r>
              <a:endParaRPr/>
            </a:p>
          </p:txBody>
        </p:sp>
        <p:sp>
          <p:nvSpPr>
            <p:cNvPr id="171" name="Google Shape;171;p4"/>
            <p:cNvSpPr txBox="1"/>
            <p:nvPr/>
          </p:nvSpPr>
          <p:spPr>
            <a:xfrm>
              <a:off x="915319" y="1662549"/>
              <a:ext cx="3112822" cy="19697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rgbClr val="2C3E50"/>
                  </a:solidFill>
                  <a:latin typeface="Arimo"/>
                  <a:ea typeface="Arimo"/>
                  <a:cs typeface="Arimo"/>
                  <a:sym typeface="Arimo"/>
                </a:rPr>
                <a:t>Manual verification = 6-18 months. Farmers never get paid.</a:t>
              </a:r>
              <a:endParaRPr sz="2000" dirty="0"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393623" y="5447676"/>
              <a:ext cx="4625179" cy="4725622"/>
            </a:xfrm>
            <a:custGeom>
              <a:avLst/>
              <a:gdLst/>
              <a:ahLst/>
              <a:cxnLst/>
              <a:rect l="l" t="t" r="r" b="b"/>
              <a:pathLst>
                <a:path w="4625179" h="4725622" extrusionOk="0">
                  <a:moveTo>
                    <a:pt x="0" y="0"/>
                  </a:moveTo>
                  <a:lnTo>
                    <a:pt x="4625180" y="0"/>
                  </a:lnTo>
                  <a:lnTo>
                    <a:pt x="4625180" y="4725622"/>
                  </a:lnTo>
                  <a:lnTo>
                    <a:pt x="0" y="47256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50000"/>
              </a:blip>
              <a:stretch>
                <a:fillRect l="-130796" t="-127028" r="-9069" b="-773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4"/>
            <p:cNvSpPr txBox="1"/>
            <p:nvPr/>
          </p:nvSpPr>
          <p:spPr>
            <a:xfrm>
              <a:off x="7187541" y="6679240"/>
              <a:ext cx="3037345" cy="4890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7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18" b="1">
                  <a:solidFill>
                    <a:srgbClr val="2C3E50"/>
                  </a:solidFill>
                  <a:latin typeface="Arimo"/>
                  <a:ea typeface="Arimo"/>
                  <a:cs typeface="Arimo"/>
                  <a:sym typeface="Arimo"/>
                </a:rPr>
                <a:t>Crop Apps:</a:t>
              </a:r>
              <a:endParaRPr/>
            </a:p>
          </p:txBody>
        </p:sp>
        <p:sp>
          <p:nvSpPr>
            <p:cNvPr id="174" name="Google Shape;174;p4"/>
            <p:cNvSpPr txBox="1"/>
            <p:nvPr/>
          </p:nvSpPr>
          <p:spPr>
            <a:xfrm>
              <a:off x="7335776" y="6610658"/>
              <a:ext cx="3128032" cy="3439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55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r">
                <a:lnSpc>
                  <a:spcPct val="120008"/>
                </a:lnSpc>
              </a:pPr>
              <a:r>
                <a:rPr lang="en-US" sz="2329" dirty="0">
                  <a:solidFill>
                    <a:srgbClr val="2C3E50"/>
                  </a:solidFill>
                  <a:latin typeface="Arimo"/>
                  <a:ea typeface="Arimo"/>
                  <a:cs typeface="Arimo"/>
                  <a:sym typeface="Arimo"/>
                </a:rPr>
                <a:t>Solve disease. Ignore debt. (60% suicides = financial crisis)</a:t>
              </a:r>
              <a:endParaRPr lang="en-US" sz="2400" dirty="0"/>
            </a:p>
            <a:p>
              <a:pPr marL="0" marR="0" lvl="0" indent="0" algn="r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29" dirty="0">
                  <a:solidFill>
                    <a:srgbClr val="2C3E5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endParaRPr dirty="0"/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1229017" y="9065047"/>
              <a:ext cx="9149101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5391785" y="103024"/>
              <a:ext cx="5730217" cy="5344652"/>
            </a:xfrm>
            <a:custGeom>
              <a:avLst/>
              <a:gdLst/>
              <a:ahLst/>
              <a:cxnLst/>
              <a:rect l="l" t="t" r="r" b="b"/>
              <a:pathLst>
                <a:path w="5730217" h="5344652" extrusionOk="0">
                  <a:moveTo>
                    <a:pt x="0" y="0"/>
                  </a:moveTo>
                  <a:lnTo>
                    <a:pt x="5730217" y="0"/>
                  </a:lnTo>
                  <a:lnTo>
                    <a:pt x="5730217" y="5344652"/>
                  </a:lnTo>
                  <a:lnTo>
                    <a:pt x="0" y="534465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50000"/>
              </a:blip>
              <a:stretch>
                <a:fillRect l="-87785" t="-12711" r="-5825" b="-9486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4"/>
            <p:cNvSpPr txBox="1"/>
            <p:nvPr/>
          </p:nvSpPr>
          <p:spPr>
            <a:xfrm>
              <a:off x="6916809" y="400089"/>
              <a:ext cx="3456329" cy="4890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59" b="1">
                  <a:solidFill>
                    <a:srgbClr val="2C3E50"/>
                  </a:solidFill>
                  <a:latin typeface="Arimo"/>
                  <a:ea typeface="Arimo"/>
                  <a:cs typeface="Arimo"/>
                  <a:sym typeface="Arimo"/>
                </a:rPr>
                <a:t>The Missing Link: </a:t>
              </a:r>
              <a:endParaRPr/>
            </a:p>
          </p:txBody>
        </p:sp>
        <p:sp>
          <p:nvSpPr>
            <p:cNvPr id="178" name="Google Shape;178;p4"/>
            <p:cNvSpPr txBox="1"/>
            <p:nvPr/>
          </p:nvSpPr>
          <p:spPr>
            <a:xfrm>
              <a:off x="6546826" y="1095653"/>
              <a:ext cx="3831300" cy="32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2003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31">
                  <a:solidFill>
                    <a:srgbClr val="2C3E50"/>
                  </a:solidFill>
                  <a:latin typeface="Arimo"/>
                  <a:ea typeface="Arimo"/>
                  <a:cs typeface="Arimo"/>
                  <a:sym typeface="Arimo"/>
                </a:rPr>
                <a:t>No platform connects the person (Finance), the farm (Personalization), and the planet (Waste-to-Value).</a:t>
              </a:r>
              <a:endParaRPr sz="1200"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794683" y="4823182"/>
              <a:ext cx="5161367" cy="5089781"/>
            </a:xfrm>
            <a:custGeom>
              <a:avLst/>
              <a:gdLst/>
              <a:ahLst/>
              <a:cxnLst/>
              <a:rect l="l" t="t" r="r" b="b"/>
              <a:pathLst>
                <a:path w="5161367" h="5089781" extrusionOk="0">
                  <a:moveTo>
                    <a:pt x="0" y="0"/>
                  </a:moveTo>
                  <a:lnTo>
                    <a:pt x="5161367" y="0"/>
                  </a:lnTo>
                  <a:lnTo>
                    <a:pt x="5161367" y="5089781"/>
                  </a:lnTo>
                  <a:lnTo>
                    <a:pt x="0" y="508978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50000"/>
              </a:blip>
              <a:stretch>
                <a:fillRect l="-12749" t="-96352" r="-94088" b="-1339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4"/>
            <p:cNvSpPr txBox="1"/>
            <p:nvPr/>
          </p:nvSpPr>
          <p:spPr>
            <a:xfrm>
              <a:off x="1087552" y="6554136"/>
              <a:ext cx="3626400" cy="2517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6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1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rgbClr val="2C3E50"/>
                  </a:solidFill>
                  <a:latin typeface="Arimo"/>
                  <a:ea typeface="Arimo"/>
                  <a:cs typeface="Arimo"/>
                  <a:sym typeface="Arimo"/>
                </a:rPr>
                <a:t>lose 68% of compensation in 3 years. No financial literacy. No advisory.</a:t>
              </a:r>
              <a:endParaRPr sz="2000" dirty="0"/>
            </a:p>
          </p:txBody>
        </p:sp>
        <p:sp>
          <p:nvSpPr>
            <p:cNvPr id="181" name="Google Shape;181;p4"/>
            <p:cNvSpPr txBox="1"/>
            <p:nvPr/>
          </p:nvSpPr>
          <p:spPr>
            <a:xfrm>
              <a:off x="1087552" y="5983879"/>
              <a:ext cx="3626263" cy="94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66" b="1">
                  <a:solidFill>
                    <a:srgbClr val="2C3E50"/>
                  </a:solidFill>
                  <a:latin typeface="Arimo"/>
                  <a:ea typeface="Arimo"/>
                  <a:cs typeface="Arimo"/>
                  <a:sym typeface="Arimo"/>
                </a:rPr>
                <a:t>Land-acquired farmers :</a:t>
              </a:r>
              <a:endParaRPr/>
            </a:p>
          </p:txBody>
        </p:sp>
      </p:grpSp>
      <p:sp>
        <p:nvSpPr>
          <p:cNvPr id="182" name="Google Shape;182;p4"/>
          <p:cNvSpPr/>
          <p:nvPr/>
        </p:nvSpPr>
        <p:spPr>
          <a:xfrm>
            <a:off x="14549220" y="1860863"/>
            <a:ext cx="2710080" cy="1463443"/>
          </a:xfrm>
          <a:custGeom>
            <a:avLst/>
            <a:gdLst/>
            <a:ahLst/>
            <a:cxnLst/>
            <a:rect l="l" t="t" r="r" b="b"/>
            <a:pathLst>
              <a:path w="2710080" h="1463443" extrusionOk="0">
                <a:moveTo>
                  <a:pt x="0" y="0"/>
                </a:moveTo>
                <a:lnTo>
                  <a:pt x="2710080" y="0"/>
                </a:lnTo>
                <a:lnTo>
                  <a:pt x="2710080" y="1463443"/>
                </a:lnTo>
                <a:lnTo>
                  <a:pt x="0" y="1463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10581410" y="4536389"/>
            <a:ext cx="847188" cy="847188"/>
          </a:xfrm>
          <a:custGeom>
            <a:avLst/>
            <a:gdLst/>
            <a:ahLst/>
            <a:cxnLst/>
            <a:rect l="l" t="t" r="r" b="b"/>
            <a:pathLst>
              <a:path w="847188" h="847188" extrusionOk="0">
                <a:moveTo>
                  <a:pt x="0" y="0"/>
                </a:moveTo>
                <a:lnTo>
                  <a:pt x="847188" y="0"/>
                </a:lnTo>
                <a:lnTo>
                  <a:pt x="847188" y="847187"/>
                </a:lnTo>
                <a:lnTo>
                  <a:pt x="0" y="8471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10514936" y="5977979"/>
            <a:ext cx="755995" cy="808944"/>
          </a:xfrm>
          <a:custGeom>
            <a:avLst/>
            <a:gdLst/>
            <a:ahLst/>
            <a:cxnLst/>
            <a:rect l="l" t="t" r="r" b="b"/>
            <a:pathLst>
              <a:path w="755995" h="808944" extrusionOk="0">
                <a:moveTo>
                  <a:pt x="0" y="0"/>
                </a:moveTo>
                <a:lnTo>
                  <a:pt x="755995" y="0"/>
                </a:lnTo>
                <a:lnTo>
                  <a:pt x="755995" y="808943"/>
                </a:lnTo>
                <a:lnTo>
                  <a:pt x="0" y="8089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10514936" y="7377472"/>
            <a:ext cx="764643" cy="764643"/>
          </a:xfrm>
          <a:custGeom>
            <a:avLst/>
            <a:gdLst/>
            <a:ahLst/>
            <a:cxnLst/>
            <a:rect l="l" t="t" r="r" b="b"/>
            <a:pathLst>
              <a:path w="764643" h="764643" extrusionOk="0">
                <a:moveTo>
                  <a:pt x="0" y="0"/>
                </a:moveTo>
                <a:lnTo>
                  <a:pt x="764643" y="0"/>
                </a:lnTo>
                <a:lnTo>
                  <a:pt x="764643" y="764643"/>
                </a:lnTo>
                <a:lnTo>
                  <a:pt x="0" y="7646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307672" y="653877"/>
            <a:ext cx="8490861" cy="721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E60000"/>
                </a:solidFill>
                <a:latin typeface="Arimo"/>
                <a:ea typeface="Arimo"/>
                <a:cs typeface="Arimo"/>
                <a:sym typeface="Arimo"/>
              </a:rPr>
              <a:t>Need of Project 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5718369" y="663402"/>
            <a:ext cx="1542599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2" b="1">
                <a:solidFill>
                  <a:srgbClr val="E60000"/>
                </a:solidFill>
                <a:latin typeface="Arimo"/>
                <a:ea typeface="Arimo"/>
                <a:cs typeface="Arimo"/>
                <a:sym typeface="Arimo"/>
              </a:rPr>
              <a:t>Isolated Solutions Don't Fix Systemic Collapse!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10407126" y="2061350"/>
            <a:ext cx="49200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32" b="1">
                <a:solidFill>
                  <a:srgbClr val="2E946B"/>
                </a:solidFill>
                <a:latin typeface="Arial"/>
                <a:ea typeface="Arial"/>
                <a:cs typeface="Arial"/>
                <a:sym typeface="Arial"/>
              </a:rPr>
              <a:t>Krishi</a:t>
            </a:r>
            <a:r>
              <a:rPr lang="en-US" sz="5932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Saarthi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10507905" y="3269305"/>
            <a:ext cx="6215760" cy="10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12" b="1">
                <a:solidFill>
                  <a:srgbClr val="590102"/>
                </a:solidFill>
                <a:latin typeface="Arimo"/>
                <a:ea typeface="Arimo"/>
                <a:cs typeface="Arimo"/>
                <a:sym typeface="Arimo"/>
              </a:rPr>
              <a:t>The Complete Puzzle: Centered on the Farmer</a:t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11673536" y="4526864"/>
            <a:ext cx="5346917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9" b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 Farmer-Centric Treats the person's financial health (debt/income), not just the plant's survival.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11673536" y="5844288"/>
            <a:ext cx="450422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9" b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2. Future-Proof Transforms temporary land compensation into lifelong family security.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11673536" y="7237930"/>
            <a:ext cx="5346917" cy="105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82" b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3. Direct Reward Ensures the human steward gets paid for sustainability, not the middlemen.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/>
          <p:nvPr/>
        </p:nvSpPr>
        <p:spPr>
          <a:xfrm rot="10800000">
            <a:off x="8278587" y="9977571"/>
            <a:ext cx="10727874" cy="652329"/>
          </a:xfrm>
          <a:custGeom>
            <a:avLst/>
            <a:gdLst/>
            <a:ahLst/>
            <a:cxnLst/>
            <a:rect l="l" t="t" r="r" b="b"/>
            <a:pathLst>
              <a:path w="10727874" h="652329" extrusionOk="0">
                <a:moveTo>
                  <a:pt x="10727874" y="652329"/>
                </a:moveTo>
                <a:lnTo>
                  <a:pt x="0" y="652329"/>
                </a:lnTo>
                <a:lnTo>
                  <a:pt x="0" y="0"/>
                </a:lnTo>
                <a:lnTo>
                  <a:pt x="10727874" y="0"/>
                </a:lnTo>
                <a:lnTo>
                  <a:pt x="10727874" y="652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5272" b="-652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0" y="9976752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-933298" y="-19050"/>
            <a:ext cx="10972800" cy="589950"/>
          </a:xfrm>
          <a:custGeom>
            <a:avLst/>
            <a:gdLst/>
            <a:ahLst/>
            <a:cxnLst/>
            <a:rect l="l" t="t" r="r" b="b"/>
            <a:pathLst>
              <a:path w="10972800" h="589950" extrusionOk="0">
                <a:moveTo>
                  <a:pt x="0" y="0"/>
                </a:moveTo>
                <a:lnTo>
                  <a:pt x="10972800" y="0"/>
                </a:lnTo>
                <a:lnTo>
                  <a:pt x="10972800" y="589950"/>
                </a:lnTo>
                <a:lnTo>
                  <a:pt x="0" y="58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773" b="-807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9976761" y="-16326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" name="Google Shape;205;p5"/>
          <p:cNvGrpSpPr/>
          <p:nvPr/>
        </p:nvGrpSpPr>
        <p:grpSpPr>
          <a:xfrm>
            <a:off x="376052" y="1537891"/>
            <a:ext cx="4220937" cy="6837467"/>
            <a:chOff x="0" y="-9525"/>
            <a:chExt cx="1111687" cy="1800814"/>
          </a:xfrm>
        </p:grpSpPr>
        <p:sp>
          <p:nvSpPr>
            <p:cNvPr id="206" name="Google Shape;206;p5"/>
            <p:cNvSpPr/>
            <p:nvPr/>
          </p:nvSpPr>
          <p:spPr>
            <a:xfrm>
              <a:off x="0" y="0"/>
              <a:ext cx="1111687" cy="1791289"/>
            </a:xfrm>
            <a:custGeom>
              <a:avLst/>
              <a:gdLst/>
              <a:ahLst/>
              <a:cxnLst/>
              <a:rect l="l" t="t" r="r" b="b"/>
              <a:pathLst>
                <a:path w="1111687" h="1791289" extrusionOk="0">
                  <a:moveTo>
                    <a:pt x="49523" y="0"/>
                  </a:moveTo>
                  <a:lnTo>
                    <a:pt x="1062164" y="0"/>
                  </a:lnTo>
                  <a:cubicBezTo>
                    <a:pt x="1075299" y="0"/>
                    <a:pt x="1087895" y="5218"/>
                    <a:pt x="1097182" y="14505"/>
                  </a:cubicBezTo>
                  <a:cubicBezTo>
                    <a:pt x="1106470" y="23792"/>
                    <a:pt x="1111687" y="36388"/>
                    <a:pt x="1111687" y="49523"/>
                  </a:cubicBezTo>
                  <a:lnTo>
                    <a:pt x="1111687" y="1741766"/>
                  </a:lnTo>
                  <a:cubicBezTo>
                    <a:pt x="1111687" y="1769116"/>
                    <a:pt x="1089515" y="1791289"/>
                    <a:pt x="1062164" y="1791289"/>
                  </a:cubicBezTo>
                  <a:lnTo>
                    <a:pt x="49523" y="1791289"/>
                  </a:lnTo>
                  <a:cubicBezTo>
                    <a:pt x="36388" y="1791289"/>
                    <a:pt x="23792" y="1786071"/>
                    <a:pt x="14505" y="1776784"/>
                  </a:cubicBezTo>
                  <a:cubicBezTo>
                    <a:pt x="5218" y="1767496"/>
                    <a:pt x="0" y="1754900"/>
                    <a:pt x="0" y="1741766"/>
                  </a:cubicBezTo>
                  <a:lnTo>
                    <a:pt x="0" y="49523"/>
                  </a:lnTo>
                  <a:cubicBezTo>
                    <a:pt x="0" y="36388"/>
                    <a:pt x="5218" y="23792"/>
                    <a:pt x="14505" y="14505"/>
                  </a:cubicBezTo>
                  <a:cubicBezTo>
                    <a:pt x="23792" y="5218"/>
                    <a:pt x="36388" y="0"/>
                    <a:pt x="49523" y="0"/>
                  </a:cubicBezTo>
                  <a:close/>
                </a:path>
              </a:pathLst>
            </a:custGeom>
            <a:solidFill>
              <a:srgbClr val="B5EBEF"/>
            </a:solidFill>
            <a:ln w="38100" cap="rnd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5"/>
            <p:cNvSpPr txBox="1"/>
            <p:nvPr/>
          </p:nvSpPr>
          <p:spPr>
            <a:xfrm>
              <a:off x="0" y="-9525"/>
              <a:ext cx="1111687" cy="18008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5"/>
          <p:cNvGrpSpPr/>
          <p:nvPr/>
        </p:nvGrpSpPr>
        <p:grpSpPr>
          <a:xfrm>
            <a:off x="4813525" y="1537891"/>
            <a:ext cx="4220937" cy="6837467"/>
            <a:chOff x="0" y="-9525"/>
            <a:chExt cx="1111687" cy="1800814"/>
          </a:xfrm>
        </p:grpSpPr>
        <p:sp>
          <p:nvSpPr>
            <p:cNvPr id="209" name="Google Shape;209;p5"/>
            <p:cNvSpPr/>
            <p:nvPr/>
          </p:nvSpPr>
          <p:spPr>
            <a:xfrm>
              <a:off x="0" y="0"/>
              <a:ext cx="1111687" cy="1791289"/>
            </a:xfrm>
            <a:custGeom>
              <a:avLst/>
              <a:gdLst/>
              <a:ahLst/>
              <a:cxnLst/>
              <a:rect l="l" t="t" r="r" b="b"/>
              <a:pathLst>
                <a:path w="1111687" h="1791289" extrusionOk="0">
                  <a:moveTo>
                    <a:pt x="49523" y="0"/>
                  </a:moveTo>
                  <a:lnTo>
                    <a:pt x="1062164" y="0"/>
                  </a:lnTo>
                  <a:cubicBezTo>
                    <a:pt x="1075299" y="0"/>
                    <a:pt x="1087895" y="5218"/>
                    <a:pt x="1097182" y="14505"/>
                  </a:cubicBezTo>
                  <a:cubicBezTo>
                    <a:pt x="1106470" y="23792"/>
                    <a:pt x="1111687" y="36388"/>
                    <a:pt x="1111687" y="49523"/>
                  </a:cubicBezTo>
                  <a:lnTo>
                    <a:pt x="1111687" y="1741766"/>
                  </a:lnTo>
                  <a:cubicBezTo>
                    <a:pt x="1111687" y="1769116"/>
                    <a:pt x="1089515" y="1791289"/>
                    <a:pt x="1062164" y="1791289"/>
                  </a:cubicBezTo>
                  <a:lnTo>
                    <a:pt x="49523" y="1791289"/>
                  </a:lnTo>
                  <a:cubicBezTo>
                    <a:pt x="36388" y="1791289"/>
                    <a:pt x="23792" y="1786071"/>
                    <a:pt x="14505" y="1776784"/>
                  </a:cubicBezTo>
                  <a:cubicBezTo>
                    <a:pt x="5218" y="1767496"/>
                    <a:pt x="0" y="1754900"/>
                    <a:pt x="0" y="1741766"/>
                  </a:cubicBezTo>
                  <a:lnTo>
                    <a:pt x="0" y="49523"/>
                  </a:lnTo>
                  <a:cubicBezTo>
                    <a:pt x="0" y="36388"/>
                    <a:pt x="5218" y="23792"/>
                    <a:pt x="14505" y="14505"/>
                  </a:cubicBezTo>
                  <a:cubicBezTo>
                    <a:pt x="23792" y="5218"/>
                    <a:pt x="36388" y="0"/>
                    <a:pt x="49523" y="0"/>
                  </a:cubicBezTo>
                  <a:close/>
                </a:path>
              </a:pathLst>
            </a:custGeom>
            <a:solidFill>
              <a:srgbClr val="B5EBEF"/>
            </a:solidFill>
            <a:ln w="38100" cap="rnd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5"/>
            <p:cNvSpPr txBox="1"/>
            <p:nvPr/>
          </p:nvSpPr>
          <p:spPr>
            <a:xfrm>
              <a:off x="0" y="-9525"/>
              <a:ext cx="1111687" cy="18008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5"/>
          <p:cNvGrpSpPr/>
          <p:nvPr/>
        </p:nvGrpSpPr>
        <p:grpSpPr>
          <a:xfrm>
            <a:off x="9250999" y="1537891"/>
            <a:ext cx="4220937" cy="6837467"/>
            <a:chOff x="0" y="-9525"/>
            <a:chExt cx="1111687" cy="1800814"/>
          </a:xfrm>
        </p:grpSpPr>
        <p:sp>
          <p:nvSpPr>
            <p:cNvPr id="212" name="Google Shape;212;p5"/>
            <p:cNvSpPr/>
            <p:nvPr/>
          </p:nvSpPr>
          <p:spPr>
            <a:xfrm>
              <a:off x="0" y="0"/>
              <a:ext cx="1111687" cy="1791289"/>
            </a:xfrm>
            <a:custGeom>
              <a:avLst/>
              <a:gdLst/>
              <a:ahLst/>
              <a:cxnLst/>
              <a:rect l="l" t="t" r="r" b="b"/>
              <a:pathLst>
                <a:path w="1111687" h="1791289" extrusionOk="0">
                  <a:moveTo>
                    <a:pt x="49523" y="0"/>
                  </a:moveTo>
                  <a:lnTo>
                    <a:pt x="1062164" y="0"/>
                  </a:lnTo>
                  <a:cubicBezTo>
                    <a:pt x="1075299" y="0"/>
                    <a:pt x="1087895" y="5218"/>
                    <a:pt x="1097182" y="14505"/>
                  </a:cubicBezTo>
                  <a:cubicBezTo>
                    <a:pt x="1106470" y="23792"/>
                    <a:pt x="1111687" y="36388"/>
                    <a:pt x="1111687" y="49523"/>
                  </a:cubicBezTo>
                  <a:lnTo>
                    <a:pt x="1111687" y="1741766"/>
                  </a:lnTo>
                  <a:cubicBezTo>
                    <a:pt x="1111687" y="1769116"/>
                    <a:pt x="1089515" y="1791289"/>
                    <a:pt x="1062164" y="1791289"/>
                  </a:cubicBezTo>
                  <a:lnTo>
                    <a:pt x="49523" y="1791289"/>
                  </a:lnTo>
                  <a:cubicBezTo>
                    <a:pt x="36388" y="1791289"/>
                    <a:pt x="23792" y="1786071"/>
                    <a:pt x="14505" y="1776784"/>
                  </a:cubicBezTo>
                  <a:cubicBezTo>
                    <a:pt x="5218" y="1767496"/>
                    <a:pt x="0" y="1754900"/>
                    <a:pt x="0" y="1741766"/>
                  </a:cubicBezTo>
                  <a:lnTo>
                    <a:pt x="0" y="49523"/>
                  </a:lnTo>
                  <a:cubicBezTo>
                    <a:pt x="0" y="36388"/>
                    <a:pt x="5218" y="23792"/>
                    <a:pt x="14505" y="14505"/>
                  </a:cubicBezTo>
                  <a:cubicBezTo>
                    <a:pt x="23792" y="5218"/>
                    <a:pt x="36388" y="0"/>
                    <a:pt x="49523" y="0"/>
                  </a:cubicBezTo>
                  <a:close/>
                </a:path>
              </a:pathLst>
            </a:custGeom>
            <a:solidFill>
              <a:srgbClr val="B5EBEF"/>
            </a:solidFill>
            <a:ln w="38100" cap="rnd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5"/>
            <p:cNvSpPr txBox="1"/>
            <p:nvPr/>
          </p:nvSpPr>
          <p:spPr>
            <a:xfrm>
              <a:off x="0" y="-9525"/>
              <a:ext cx="1111687" cy="18008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5"/>
          <p:cNvGrpSpPr/>
          <p:nvPr/>
        </p:nvGrpSpPr>
        <p:grpSpPr>
          <a:xfrm>
            <a:off x="13691011" y="1537891"/>
            <a:ext cx="4220937" cy="6837467"/>
            <a:chOff x="0" y="-9525"/>
            <a:chExt cx="1111687" cy="1800814"/>
          </a:xfrm>
        </p:grpSpPr>
        <p:sp>
          <p:nvSpPr>
            <p:cNvPr id="215" name="Google Shape;215;p5"/>
            <p:cNvSpPr/>
            <p:nvPr/>
          </p:nvSpPr>
          <p:spPr>
            <a:xfrm>
              <a:off x="0" y="0"/>
              <a:ext cx="1111687" cy="1791289"/>
            </a:xfrm>
            <a:custGeom>
              <a:avLst/>
              <a:gdLst/>
              <a:ahLst/>
              <a:cxnLst/>
              <a:rect l="l" t="t" r="r" b="b"/>
              <a:pathLst>
                <a:path w="1111687" h="1791289" extrusionOk="0">
                  <a:moveTo>
                    <a:pt x="49523" y="0"/>
                  </a:moveTo>
                  <a:lnTo>
                    <a:pt x="1062164" y="0"/>
                  </a:lnTo>
                  <a:cubicBezTo>
                    <a:pt x="1075299" y="0"/>
                    <a:pt x="1087895" y="5218"/>
                    <a:pt x="1097182" y="14505"/>
                  </a:cubicBezTo>
                  <a:cubicBezTo>
                    <a:pt x="1106470" y="23792"/>
                    <a:pt x="1111687" y="36388"/>
                    <a:pt x="1111687" y="49523"/>
                  </a:cubicBezTo>
                  <a:lnTo>
                    <a:pt x="1111687" y="1741766"/>
                  </a:lnTo>
                  <a:cubicBezTo>
                    <a:pt x="1111687" y="1769116"/>
                    <a:pt x="1089515" y="1791289"/>
                    <a:pt x="1062164" y="1791289"/>
                  </a:cubicBezTo>
                  <a:lnTo>
                    <a:pt x="49523" y="1791289"/>
                  </a:lnTo>
                  <a:cubicBezTo>
                    <a:pt x="36388" y="1791289"/>
                    <a:pt x="23792" y="1786071"/>
                    <a:pt x="14505" y="1776784"/>
                  </a:cubicBezTo>
                  <a:cubicBezTo>
                    <a:pt x="5218" y="1767496"/>
                    <a:pt x="0" y="1754900"/>
                    <a:pt x="0" y="1741766"/>
                  </a:cubicBezTo>
                  <a:lnTo>
                    <a:pt x="0" y="49523"/>
                  </a:lnTo>
                  <a:cubicBezTo>
                    <a:pt x="0" y="36388"/>
                    <a:pt x="5218" y="23792"/>
                    <a:pt x="14505" y="14505"/>
                  </a:cubicBezTo>
                  <a:cubicBezTo>
                    <a:pt x="23792" y="5218"/>
                    <a:pt x="36388" y="0"/>
                    <a:pt x="49523" y="0"/>
                  </a:cubicBezTo>
                  <a:close/>
                </a:path>
              </a:pathLst>
            </a:custGeom>
            <a:solidFill>
              <a:srgbClr val="B5EBEF"/>
            </a:solidFill>
            <a:ln w="38100" cap="rnd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5"/>
            <p:cNvSpPr txBox="1"/>
            <p:nvPr/>
          </p:nvSpPr>
          <p:spPr>
            <a:xfrm>
              <a:off x="0" y="-9525"/>
              <a:ext cx="1111687" cy="18008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p5"/>
          <p:cNvSpPr/>
          <p:nvPr/>
        </p:nvSpPr>
        <p:spPr>
          <a:xfrm>
            <a:off x="602305" y="1887868"/>
            <a:ext cx="3801510" cy="1690381"/>
          </a:xfrm>
          <a:custGeom>
            <a:avLst/>
            <a:gdLst/>
            <a:ahLst/>
            <a:cxnLst/>
            <a:rect l="l" t="t" r="r" b="b"/>
            <a:pathLst>
              <a:path w="3559286" h="1582674" extrusionOk="0">
                <a:moveTo>
                  <a:pt x="3543157" y="184404"/>
                </a:moveTo>
                <a:cubicBezTo>
                  <a:pt x="3542776" y="123444"/>
                  <a:pt x="3552174" y="6604"/>
                  <a:pt x="3552174" y="6604"/>
                </a:cubicBezTo>
                <a:lnTo>
                  <a:pt x="3407267" y="4318"/>
                </a:lnTo>
                <a:lnTo>
                  <a:pt x="3201781" y="14097"/>
                </a:lnTo>
                <a:cubicBezTo>
                  <a:pt x="3201781" y="14097"/>
                  <a:pt x="2868152" y="-1905"/>
                  <a:pt x="2836275" y="13081"/>
                </a:cubicBezTo>
                <a:cubicBezTo>
                  <a:pt x="2804271" y="28067"/>
                  <a:pt x="2738358" y="4318"/>
                  <a:pt x="2738358" y="4318"/>
                </a:cubicBezTo>
                <a:lnTo>
                  <a:pt x="920508" y="2413"/>
                </a:lnTo>
                <a:lnTo>
                  <a:pt x="629551" y="1651"/>
                </a:lnTo>
                <a:lnTo>
                  <a:pt x="402602" y="9525"/>
                </a:lnTo>
                <a:lnTo>
                  <a:pt x="138823" y="8763"/>
                </a:lnTo>
                <a:lnTo>
                  <a:pt x="38747" y="0"/>
                </a:lnTo>
                <a:cubicBezTo>
                  <a:pt x="22872" y="0"/>
                  <a:pt x="10045" y="12700"/>
                  <a:pt x="10045" y="28575"/>
                </a:cubicBezTo>
                <a:lnTo>
                  <a:pt x="26301" y="273685"/>
                </a:lnTo>
                <a:lnTo>
                  <a:pt x="8521" y="545084"/>
                </a:lnTo>
                <a:lnTo>
                  <a:pt x="6362" y="937006"/>
                </a:lnTo>
                <a:lnTo>
                  <a:pt x="14363" y="1115822"/>
                </a:lnTo>
                <a:cubicBezTo>
                  <a:pt x="14363" y="1115822"/>
                  <a:pt x="-10656" y="1156970"/>
                  <a:pt x="5346" y="1316990"/>
                </a:cubicBezTo>
                <a:cubicBezTo>
                  <a:pt x="21348" y="1477010"/>
                  <a:pt x="38620" y="1572260"/>
                  <a:pt x="38620" y="1572260"/>
                </a:cubicBezTo>
                <a:lnTo>
                  <a:pt x="122186" y="1572514"/>
                </a:lnTo>
                <a:lnTo>
                  <a:pt x="294906" y="1556004"/>
                </a:lnTo>
                <a:lnTo>
                  <a:pt x="521855" y="1573530"/>
                </a:lnTo>
                <a:lnTo>
                  <a:pt x="760488" y="1582674"/>
                </a:lnTo>
                <a:lnTo>
                  <a:pt x="895870" y="1557528"/>
                </a:lnTo>
                <a:lnTo>
                  <a:pt x="998105" y="1574800"/>
                </a:lnTo>
                <a:lnTo>
                  <a:pt x="2803128" y="1576705"/>
                </a:lnTo>
                <a:lnTo>
                  <a:pt x="3046079" y="1577340"/>
                </a:lnTo>
                <a:lnTo>
                  <a:pt x="3282934" y="1567688"/>
                </a:lnTo>
                <a:lnTo>
                  <a:pt x="3469243" y="1578483"/>
                </a:lnTo>
                <a:lnTo>
                  <a:pt x="3546713" y="1578737"/>
                </a:lnTo>
                <a:lnTo>
                  <a:pt x="3547094" y="1430782"/>
                </a:lnTo>
                <a:lnTo>
                  <a:pt x="3547348" y="1317117"/>
                </a:lnTo>
                <a:lnTo>
                  <a:pt x="3539474" y="1111631"/>
                </a:lnTo>
                <a:lnTo>
                  <a:pt x="3548364" y="943483"/>
                </a:lnTo>
                <a:lnTo>
                  <a:pt x="3550142" y="669671"/>
                </a:lnTo>
                <a:lnTo>
                  <a:pt x="3559286" y="422656"/>
                </a:lnTo>
                <a:cubicBezTo>
                  <a:pt x="3559286" y="422656"/>
                  <a:pt x="3543284" y="245110"/>
                  <a:pt x="3542903" y="18415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933" t="-70339" r="-107070" b="-30196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13786216" y="5218723"/>
            <a:ext cx="3987416" cy="2143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89" dirty="0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</a:rPr>
              <a:t>Validates sustainable practices via blockchain for transparent credit monetization with corporate buyers.</a:t>
            </a:r>
            <a:endParaRPr dirty="0"/>
          </a:p>
        </p:txBody>
      </p:sp>
      <p:sp>
        <p:nvSpPr>
          <p:cNvPr id="219" name="Google Shape;219;p5"/>
          <p:cNvSpPr/>
          <p:nvPr/>
        </p:nvSpPr>
        <p:spPr>
          <a:xfrm>
            <a:off x="5039779" y="1887868"/>
            <a:ext cx="3801510" cy="1690381"/>
          </a:xfrm>
          <a:custGeom>
            <a:avLst/>
            <a:gdLst/>
            <a:ahLst/>
            <a:cxnLst/>
            <a:rect l="l" t="t" r="r" b="b"/>
            <a:pathLst>
              <a:path w="3559286" h="1582674" extrusionOk="0">
                <a:moveTo>
                  <a:pt x="3543157" y="184404"/>
                </a:moveTo>
                <a:cubicBezTo>
                  <a:pt x="3542776" y="123444"/>
                  <a:pt x="3552174" y="6604"/>
                  <a:pt x="3552174" y="6604"/>
                </a:cubicBezTo>
                <a:lnTo>
                  <a:pt x="3407267" y="4318"/>
                </a:lnTo>
                <a:lnTo>
                  <a:pt x="3201781" y="14097"/>
                </a:lnTo>
                <a:cubicBezTo>
                  <a:pt x="3201781" y="14097"/>
                  <a:pt x="2868152" y="-1905"/>
                  <a:pt x="2836275" y="13081"/>
                </a:cubicBezTo>
                <a:cubicBezTo>
                  <a:pt x="2804271" y="28067"/>
                  <a:pt x="2738358" y="4318"/>
                  <a:pt x="2738358" y="4318"/>
                </a:cubicBezTo>
                <a:lnTo>
                  <a:pt x="920508" y="2413"/>
                </a:lnTo>
                <a:lnTo>
                  <a:pt x="629551" y="1651"/>
                </a:lnTo>
                <a:lnTo>
                  <a:pt x="402602" y="9525"/>
                </a:lnTo>
                <a:lnTo>
                  <a:pt x="138823" y="8763"/>
                </a:lnTo>
                <a:lnTo>
                  <a:pt x="38747" y="0"/>
                </a:lnTo>
                <a:cubicBezTo>
                  <a:pt x="22872" y="0"/>
                  <a:pt x="10045" y="12700"/>
                  <a:pt x="10045" y="28575"/>
                </a:cubicBezTo>
                <a:lnTo>
                  <a:pt x="26301" y="273685"/>
                </a:lnTo>
                <a:lnTo>
                  <a:pt x="8521" y="545084"/>
                </a:lnTo>
                <a:lnTo>
                  <a:pt x="6362" y="937006"/>
                </a:lnTo>
                <a:lnTo>
                  <a:pt x="14363" y="1115822"/>
                </a:lnTo>
                <a:cubicBezTo>
                  <a:pt x="14363" y="1115822"/>
                  <a:pt x="-10656" y="1156970"/>
                  <a:pt x="5346" y="1316990"/>
                </a:cubicBezTo>
                <a:cubicBezTo>
                  <a:pt x="21348" y="1477010"/>
                  <a:pt x="38620" y="1572260"/>
                  <a:pt x="38620" y="1572260"/>
                </a:cubicBezTo>
                <a:lnTo>
                  <a:pt x="122186" y="1572514"/>
                </a:lnTo>
                <a:lnTo>
                  <a:pt x="294906" y="1556004"/>
                </a:lnTo>
                <a:lnTo>
                  <a:pt x="521855" y="1573530"/>
                </a:lnTo>
                <a:lnTo>
                  <a:pt x="760488" y="1582674"/>
                </a:lnTo>
                <a:lnTo>
                  <a:pt x="895870" y="1557528"/>
                </a:lnTo>
                <a:lnTo>
                  <a:pt x="998105" y="1574800"/>
                </a:lnTo>
                <a:lnTo>
                  <a:pt x="2803128" y="1576705"/>
                </a:lnTo>
                <a:lnTo>
                  <a:pt x="3046079" y="1577340"/>
                </a:lnTo>
                <a:lnTo>
                  <a:pt x="3282934" y="1567688"/>
                </a:lnTo>
                <a:lnTo>
                  <a:pt x="3469243" y="1578483"/>
                </a:lnTo>
                <a:lnTo>
                  <a:pt x="3546713" y="1578737"/>
                </a:lnTo>
                <a:lnTo>
                  <a:pt x="3547094" y="1430782"/>
                </a:lnTo>
                <a:lnTo>
                  <a:pt x="3547348" y="1317117"/>
                </a:lnTo>
                <a:lnTo>
                  <a:pt x="3539474" y="1111631"/>
                </a:lnTo>
                <a:lnTo>
                  <a:pt x="3548364" y="943483"/>
                </a:lnTo>
                <a:lnTo>
                  <a:pt x="3550142" y="669671"/>
                </a:lnTo>
                <a:lnTo>
                  <a:pt x="3559286" y="422656"/>
                </a:lnTo>
                <a:cubicBezTo>
                  <a:pt x="3559286" y="422656"/>
                  <a:pt x="3543284" y="245110"/>
                  <a:pt x="3542903" y="18415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05127" t="-89693" r="-2535" b="-27731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9421039" y="1953910"/>
            <a:ext cx="3801510" cy="1690381"/>
          </a:xfrm>
          <a:custGeom>
            <a:avLst/>
            <a:gdLst/>
            <a:ahLst/>
            <a:cxnLst/>
            <a:rect l="l" t="t" r="r" b="b"/>
            <a:pathLst>
              <a:path w="3559286" h="1582674" extrusionOk="0">
                <a:moveTo>
                  <a:pt x="3543157" y="184404"/>
                </a:moveTo>
                <a:cubicBezTo>
                  <a:pt x="3542776" y="123444"/>
                  <a:pt x="3552174" y="6604"/>
                  <a:pt x="3552174" y="6604"/>
                </a:cubicBezTo>
                <a:lnTo>
                  <a:pt x="3407267" y="4318"/>
                </a:lnTo>
                <a:lnTo>
                  <a:pt x="3201781" y="14097"/>
                </a:lnTo>
                <a:cubicBezTo>
                  <a:pt x="3201781" y="14097"/>
                  <a:pt x="2868152" y="-1905"/>
                  <a:pt x="2836275" y="13081"/>
                </a:cubicBezTo>
                <a:cubicBezTo>
                  <a:pt x="2804271" y="28067"/>
                  <a:pt x="2738358" y="4318"/>
                  <a:pt x="2738358" y="4318"/>
                </a:cubicBezTo>
                <a:lnTo>
                  <a:pt x="920508" y="2413"/>
                </a:lnTo>
                <a:lnTo>
                  <a:pt x="629551" y="1651"/>
                </a:lnTo>
                <a:lnTo>
                  <a:pt x="402602" y="9525"/>
                </a:lnTo>
                <a:lnTo>
                  <a:pt x="138823" y="8763"/>
                </a:lnTo>
                <a:lnTo>
                  <a:pt x="38747" y="0"/>
                </a:lnTo>
                <a:cubicBezTo>
                  <a:pt x="22872" y="0"/>
                  <a:pt x="10045" y="12700"/>
                  <a:pt x="10045" y="28575"/>
                </a:cubicBezTo>
                <a:lnTo>
                  <a:pt x="26301" y="273685"/>
                </a:lnTo>
                <a:lnTo>
                  <a:pt x="8521" y="545084"/>
                </a:lnTo>
                <a:lnTo>
                  <a:pt x="6362" y="937006"/>
                </a:lnTo>
                <a:lnTo>
                  <a:pt x="14363" y="1115822"/>
                </a:lnTo>
                <a:cubicBezTo>
                  <a:pt x="14363" y="1115822"/>
                  <a:pt x="-10656" y="1156970"/>
                  <a:pt x="5346" y="1316990"/>
                </a:cubicBezTo>
                <a:cubicBezTo>
                  <a:pt x="21348" y="1477010"/>
                  <a:pt x="38620" y="1572260"/>
                  <a:pt x="38620" y="1572260"/>
                </a:cubicBezTo>
                <a:lnTo>
                  <a:pt x="122186" y="1572514"/>
                </a:lnTo>
                <a:lnTo>
                  <a:pt x="294906" y="1556004"/>
                </a:lnTo>
                <a:lnTo>
                  <a:pt x="521855" y="1573530"/>
                </a:lnTo>
                <a:lnTo>
                  <a:pt x="760488" y="1582674"/>
                </a:lnTo>
                <a:lnTo>
                  <a:pt x="895870" y="1557528"/>
                </a:lnTo>
                <a:lnTo>
                  <a:pt x="998105" y="1574800"/>
                </a:lnTo>
                <a:lnTo>
                  <a:pt x="2803128" y="1576705"/>
                </a:lnTo>
                <a:lnTo>
                  <a:pt x="3046079" y="1577340"/>
                </a:lnTo>
                <a:lnTo>
                  <a:pt x="3282934" y="1567688"/>
                </a:lnTo>
                <a:lnTo>
                  <a:pt x="3469243" y="1578483"/>
                </a:lnTo>
                <a:lnTo>
                  <a:pt x="3546713" y="1578737"/>
                </a:lnTo>
                <a:lnTo>
                  <a:pt x="3547094" y="1430782"/>
                </a:lnTo>
                <a:lnTo>
                  <a:pt x="3547348" y="1317117"/>
                </a:lnTo>
                <a:lnTo>
                  <a:pt x="3539474" y="1111631"/>
                </a:lnTo>
                <a:lnTo>
                  <a:pt x="3548364" y="943483"/>
                </a:lnTo>
                <a:lnTo>
                  <a:pt x="3550142" y="669671"/>
                </a:lnTo>
                <a:lnTo>
                  <a:pt x="3559286" y="422656"/>
                </a:lnTo>
                <a:cubicBezTo>
                  <a:pt x="3559286" y="422656"/>
                  <a:pt x="3543284" y="245110"/>
                  <a:pt x="3542903" y="18415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1756" t="-322681" r="-114805" b="-8679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13881363" y="1887868"/>
            <a:ext cx="3801510" cy="1690381"/>
          </a:xfrm>
          <a:custGeom>
            <a:avLst/>
            <a:gdLst/>
            <a:ahLst/>
            <a:cxnLst/>
            <a:rect l="l" t="t" r="r" b="b"/>
            <a:pathLst>
              <a:path w="3559286" h="1582674" extrusionOk="0">
                <a:moveTo>
                  <a:pt x="3543157" y="184404"/>
                </a:moveTo>
                <a:cubicBezTo>
                  <a:pt x="3542776" y="123444"/>
                  <a:pt x="3552174" y="6604"/>
                  <a:pt x="3552174" y="6604"/>
                </a:cubicBezTo>
                <a:lnTo>
                  <a:pt x="3407267" y="4318"/>
                </a:lnTo>
                <a:lnTo>
                  <a:pt x="3201781" y="14097"/>
                </a:lnTo>
                <a:cubicBezTo>
                  <a:pt x="3201781" y="14097"/>
                  <a:pt x="2868152" y="-1905"/>
                  <a:pt x="2836275" y="13081"/>
                </a:cubicBezTo>
                <a:cubicBezTo>
                  <a:pt x="2804271" y="28067"/>
                  <a:pt x="2738358" y="4318"/>
                  <a:pt x="2738358" y="4318"/>
                </a:cubicBezTo>
                <a:lnTo>
                  <a:pt x="920508" y="2413"/>
                </a:lnTo>
                <a:lnTo>
                  <a:pt x="629551" y="1651"/>
                </a:lnTo>
                <a:lnTo>
                  <a:pt x="402602" y="9525"/>
                </a:lnTo>
                <a:lnTo>
                  <a:pt x="138823" y="8763"/>
                </a:lnTo>
                <a:lnTo>
                  <a:pt x="38747" y="0"/>
                </a:lnTo>
                <a:cubicBezTo>
                  <a:pt x="22872" y="0"/>
                  <a:pt x="10045" y="12700"/>
                  <a:pt x="10045" y="28575"/>
                </a:cubicBezTo>
                <a:lnTo>
                  <a:pt x="26301" y="273685"/>
                </a:lnTo>
                <a:lnTo>
                  <a:pt x="8521" y="545084"/>
                </a:lnTo>
                <a:lnTo>
                  <a:pt x="6362" y="937006"/>
                </a:lnTo>
                <a:lnTo>
                  <a:pt x="14363" y="1115822"/>
                </a:lnTo>
                <a:cubicBezTo>
                  <a:pt x="14363" y="1115822"/>
                  <a:pt x="-10656" y="1156970"/>
                  <a:pt x="5346" y="1316990"/>
                </a:cubicBezTo>
                <a:cubicBezTo>
                  <a:pt x="21348" y="1477010"/>
                  <a:pt x="38620" y="1572260"/>
                  <a:pt x="38620" y="1572260"/>
                </a:cubicBezTo>
                <a:lnTo>
                  <a:pt x="122186" y="1572514"/>
                </a:lnTo>
                <a:lnTo>
                  <a:pt x="294906" y="1556004"/>
                </a:lnTo>
                <a:lnTo>
                  <a:pt x="521855" y="1573530"/>
                </a:lnTo>
                <a:lnTo>
                  <a:pt x="760488" y="1582674"/>
                </a:lnTo>
                <a:lnTo>
                  <a:pt x="895870" y="1557528"/>
                </a:lnTo>
                <a:lnTo>
                  <a:pt x="998105" y="1574800"/>
                </a:lnTo>
                <a:lnTo>
                  <a:pt x="2803128" y="1576705"/>
                </a:lnTo>
                <a:lnTo>
                  <a:pt x="3046079" y="1577340"/>
                </a:lnTo>
                <a:lnTo>
                  <a:pt x="3282934" y="1567688"/>
                </a:lnTo>
                <a:lnTo>
                  <a:pt x="3469243" y="1578483"/>
                </a:lnTo>
                <a:lnTo>
                  <a:pt x="3546713" y="1578737"/>
                </a:lnTo>
                <a:lnTo>
                  <a:pt x="3547094" y="1430782"/>
                </a:lnTo>
                <a:lnTo>
                  <a:pt x="3547348" y="1317117"/>
                </a:lnTo>
                <a:lnTo>
                  <a:pt x="3539474" y="1111631"/>
                </a:lnTo>
                <a:lnTo>
                  <a:pt x="3548364" y="943483"/>
                </a:lnTo>
                <a:lnTo>
                  <a:pt x="3550142" y="669671"/>
                </a:lnTo>
                <a:lnTo>
                  <a:pt x="3559286" y="422656"/>
                </a:lnTo>
                <a:cubicBezTo>
                  <a:pt x="3559286" y="422656"/>
                  <a:pt x="3543284" y="245110"/>
                  <a:pt x="3542903" y="18415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22640" t="-305571" r="-3225" b="-10235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307672" y="653877"/>
            <a:ext cx="8490861" cy="721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E60000"/>
                </a:solidFill>
                <a:latin typeface="Arimo"/>
                <a:ea typeface="Arimo"/>
                <a:cs typeface="Arimo"/>
                <a:sym typeface="Arimo"/>
              </a:rPr>
              <a:t>Proposed Solution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724788" y="3837747"/>
            <a:ext cx="3496168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65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2065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7" dirty="0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</a:rPr>
              <a:t>Instant, 96% accurate disease detection and treatment protocols from a single photo.</a:t>
            </a:r>
            <a:endParaRPr dirty="0"/>
          </a:p>
        </p:txBody>
      </p:sp>
      <p:sp>
        <p:nvSpPr>
          <p:cNvPr id="224" name="Google Shape;224;p5"/>
          <p:cNvSpPr txBox="1"/>
          <p:nvPr/>
        </p:nvSpPr>
        <p:spPr>
          <a:xfrm>
            <a:off x="4748513" y="4763845"/>
            <a:ext cx="4188161" cy="2707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677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9677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1" dirty="0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</a:rPr>
              <a:t>Converts crop residue (husks, stalks) into sellable bio-fuel and industrial materials.</a:t>
            </a:r>
            <a:endParaRPr dirty="0"/>
          </a:p>
        </p:txBody>
      </p:sp>
      <p:sp>
        <p:nvSpPr>
          <p:cNvPr id="225" name="Google Shape;225;p5"/>
          <p:cNvSpPr txBox="1"/>
          <p:nvPr/>
        </p:nvSpPr>
        <p:spPr>
          <a:xfrm>
            <a:off x="9377729" y="5257356"/>
            <a:ext cx="3971685" cy="254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1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</a:rPr>
              <a:t>Strategizes compensation money and land to build high-ROI business models with 10-year income roadmaps.</a:t>
            </a:r>
            <a:endParaRPr/>
          </a:p>
        </p:txBody>
      </p:sp>
      <p:sp>
        <p:nvSpPr>
          <p:cNvPr id="226" name="Google Shape;226;p5"/>
          <p:cNvSpPr txBox="1"/>
          <p:nvPr/>
        </p:nvSpPr>
        <p:spPr>
          <a:xfrm>
            <a:off x="6375453" y="795338"/>
            <a:ext cx="7328099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9" b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Farm to Finance: One Platform. Zero Gaps.</a:t>
            </a:r>
            <a:endParaRPr/>
          </a:p>
        </p:txBody>
      </p:sp>
      <p:sp>
        <p:nvSpPr>
          <p:cNvPr id="227" name="Google Shape;227;p5"/>
          <p:cNvSpPr txBox="1"/>
          <p:nvPr/>
        </p:nvSpPr>
        <p:spPr>
          <a:xfrm>
            <a:off x="4938150" y="4082100"/>
            <a:ext cx="39717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29">
                <a:solidFill>
                  <a:srgbClr val="0070C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 Waste-to-Value:</a:t>
            </a:r>
            <a:endParaRPr/>
          </a:p>
        </p:txBody>
      </p:sp>
      <p:sp>
        <p:nvSpPr>
          <p:cNvPr id="228" name="Google Shape;228;p5"/>
          <p:cNvSpPr txBox="1"/>
          <p:nvPr/>
        </p:nvSpPr>
        <p:spPr>
          <a:xfrm>
            <a:off x="9615487" y="3873027"/>
            <a:ext cx="3496168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29">
                <a:solidFill>
                  <a:srgbClr val="0070C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 Business Advisory:</a:t>
            </a:r>
            <a:endParaRPr/>
          </a:p>
        </p:txBody>
      </p:sp>
      <p:sp>
        <p:nvSpPr>
          <p:cNvPr id="229" name="Google Shape;229;p5"/>
          <p:cNvSpPr txBox="1"/>
          <p:nvPr/>
        </p:nvSpPr>
        <p:spPr>
          <a:xfrm>
            <a:off x="14034176" y="3925145"/>
            <a:ext cx="3496168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29">
                <a:solidFill>
                  <a:srgbClr val="0070C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 Green Credit Marketplace:</a:t>
            </a:r>
            <a:endParaRPr/>
          </a:p>
        </p:txBody>
      </p:sp>
      <p:sp>
        <p:nvSpPr>
          <p:cNvPr id="230" name="Google Shape;230;p5"/>
          <p:cNvSpPr txBox="1"/>
          <p:nvPr/>
        </p:nvSpPr>
        <p:spPr>
          <a:xfrm>
            <a:off x="453778" y="8879205"/>
            <a:ext cx="17594441" cy="651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29" dirty="0">
                <a:solidFill>
                  <a:srgbClr val="545454"/>
                </a:solidFill>
                <a:latin typeface="Calibri"/>
                <a:ea typeface="Calibri"/>
                <a:cs typeface="Calibri"/>
                <a:sym typeface="Calibri"/>
              </a:rPr>
              <a:t> We don't ask "What do you grow?" We answer "How should you invest, protect, and profit?”</a:t>
            </a:r>
            <a:endParaRPr dirty="0"/>
          </a:p>
        </p:txBody>
      </p:sp>
      <p:sp>
        <p:nvSpPr>
          <p:cNvPr id="231" name="Google Shape;231;p5"/>
          <p:cNvSpPr txBox="1"/>
          <p:nvPr/>
        </p:nvSpPr>
        <p:spPr>
          <a:xfrm>
            <a:off x="754976" y="3635848"/>
            <a:ext cx="3496168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29" dirty="0">
                <a:solidFill>
                  <a:srgbClr val="0070C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 AI Crop Diagnostics: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"/>
          <p:cNvSpPr/>
          <p:nvPr/>
        </p:nvSpPr>
        <p:spPr>
          <a:xfrm rot="10800000">
            <a:off x="8278587" y="9977571"/>
            <a:ext cx="10727874" cy="652329"/>
          </a:xfrm>
          <a:custGeom>
            <a:avLst/>
            <a:gdLst/>
            <a:ahLst/>
            <a:cxnLst/>
            <a:rect l="l" t="t" r="r" b="b"/>
            <a:pathLst>
              <a:path w="10727874" h="652329" extrusionOk="0">
                <a:moveTo>
                  <a:pt x="10727874" y="652329"/>
                </a:moveTo>
                <a:lnTo>
                  <a:pt x="0" y="652329"/>
                </a:lnTo>
                <a:lnTo>
                  <a:pt x="0" y="0"/>
                </a:lnTo>
                <a:lnTo>
                  <a:pt x="10727874" y="0"/>
                </a:lnTo>
                <a:lnTo>
                  <a:pt x="10727874" y="652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5272" b="-652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0" y="9976752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-933298" y="-19050"/>
            <a:ext cx="10972800" cy="589950"/>
          </a:xfrm>
          <a:custGeom>
            <a:avLst/>
            <a:gdLst/>
            <a:ahLst/>
            <a:cxnLst/>
            <a:rect l="l" t="t" r="r" b="b"/>
            <a:pathLst>
              <a:path w="10972800" h="589950" extrusionOk="0">
                <a:moveTo>
                  <a:pt x="0" y="0"/>
                </a:moveTo>
                <a:lnTo>
                  <a:pt x="10972800" y="0"/>
                </a:lnTo>
                <a:lnTo>
                  <a:pt x="10972800" y="589950"/>
                </a:lnTo>
                <a:lnTo>
                  <a:pt x="0" y="58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773" b="-807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9976761" y="-16326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670144" y="1489248"/>
            <a:ext cx="16947712" cy="8245429"/>
          </a:xfrm>
          <a:custGeom>
            <a:avLst/>
            <a:gdLst/>
            <a:ahLst/>
            <a:cxnLst/>
            <a:rect l="l" t="t" r="r" b="b"/>
            <a:pathLst>
              <a:path w="16947712" h="8245429" extrusionOk="0">
                <a:moveTo>
                  <a:pt x="0" y="0"/>
                </a:moveTo>
                <a:lnTo>
                  <a:pt x="16947712" y="0"/>
                </a:lnTo>
                <a:lnTo>
                  <a:pt x="16947712" y="8245429"/>
                </a:lnTo>
                <a:lnTo>
                  <a:pt x="0" y="82454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018"/>
            </a:stretch>
          </a:blipFill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14417353" y="8733856"/>
            <a:ext cx="3079675" cy="906368"/>
          </a:xfrm>
          <a:custGeom>
            <a:avLst/>
            <a:gdLst/>
            <a:ahLst/>
            <a:cxnLst/>
            <a:rect l="l" t="t" r="r" b="b"/>
            <a:pathLst>
              <a:path w="3079675" h="906368" extrusionOk="0">
                <a:moveTo>
                  <a:pt x="0" y="0"/>
                </a:moveTo>
                <a:lnTo>
                  <a:pt x="3079675" y="0"/>
                </a:lnTo>
                <a:lnTo>
                  <a:pt x="3079675" y="906368"/>
                </a:lnTo>
                <a:lnTo>
                  <a:pt x="0" y="906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63414" t="-1130998" r="-36522" b="-6601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307672" y="653877"/>
            <a:ext cx="8490861" cy="721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E60000"/>
                </a:solidFill>
                <a:latin typeface="Arimo"/>
                <a:ea typeface="Arimo"/>
                <a:cs typeface="Arimo"/>
                <a:sym typeface="Arimo"/>
              </a:rPr>
              <a:t>Solution Overview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"/>
          <p:cNvSpPr/>
          <p:nvPr/>
        </p:nvSpPr>
        <p:spPr>
          <a:xfrm rot="10800000">
            <a:off x="8278587" y="9977571"/>
            <a:ext cx="10727874" cy="652329"/>
          </a:xfrm>
          <a:custGeom>
            <a:avLst/>
            <a:gdLst/>
            <a:ahLst/>
            <a:cxnLst/>
            <a:rect l="l" t="t" r="r" b="b"/>
            <a:pathLst>
              <a:path w="10727874" h="652329" extrusionOk="0">
                <a:moveTo>
                  <a:pt x="10727874" y="652329"/>
                </a:moveTo>
                <a:lnTo>
                  <a:pt x="0" y="652329"/>
                </a:lnTo>
                <a:lnTo>
                  <a:pt x="0" y="0"/>
                </a:lnTo>
                <a:lnTo>
                  <a:pt x="10727874" y="0"/>
                </a:lnTo>
                <a:lnTo>
                  <a:pt x="10727874" y="652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5272" b="-652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0" y="9976752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-933298" y="-19050"/>
            <a:ext cx="10972800" cy="589950"/>
          </a:xfrm>
          <a:custGeom>
            <a:avLst/>
            <a:gdLst/>
            <a:ahLst/>
            <a:cxnLst/>
            <a:rect l="l" t="t" r="r" b="b"/>
            <a:pathLst>
              <a:path w="10972800" h="589950" extrusionOk="0">
                <a:moveTo>
                  <a:pt x="0" y="0"/>
                </a:moveTo>
                <a:lnTo>
                  <a:pt x="10972800" y="0"/>
                </a:lnTo>
                <a:lnTo>
                  <a:pt x="10972800" y="589950"/>
                </a:lnTo>
                <a:lnTo>
                  <a:pt x="0" y="58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773" b="-807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9976761" y="-16326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556053" y="1907888"/>
            <a:ext cx="17175894" cy="7535924"/>
          </a:xfrm>
          <a:custGeom>
            <a:avLst/>
            <a:gdLst/>
            <a:ahLst/>
            <a:cxnLst/>
            <a:rect l="l" t="t" r="r" b="b"/>
            <a:pathLst>
              <a:path w="17175894" h="7535924" extrusionOk="0">
                <a:moveTo>
                  <a:pt x="0" y="0"/>
                </a:moveTo>
                <a:lnTo>
                  <a:pt x="17175894" y="0"/>
                </a:lnTo>
                <a:lnTo>
                  <a:pt x="17175894" y="7535924"/>
                </a:lnTo>
                <a:lnTo>
                  <a:pt x="0" y="7535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 w="381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 txBox="1"/>
          <p:nvPr/>
        </p:nvSpPr>
        <p:spPr>
          <a:xfrm>
            <a:off x="281924" y="653877"/>
            <a:ext cx="12017826" cy="721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E60000"/>
                </a:solidFill>
                <a:latin typeface="Arimo"/>
                <a:ea typeface="Arimo"/>
                <a:cs typeface="Arimo"/>
                <a:sym typeface="Arimo"/>
              </a:rPr>
              <a:t>Technology used</a:t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1201779" y="7292007"/>
            <a:ext cx="192681" cy="4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"/>
          <p:cNvSpPr/>
          <p:nvPr/>
        </p:nvSpPr>
        <p:spPr>
          <a:xfrm rot="10800000">
            <a:off x="8278587" y="9977571"/>
            <a:ext cx="10727874" cy="652329"/>
          </a:xfrm>
          <a:custGeom>
            <a:avLst/>
            <a:gdLst/>
            <a:ahLst/>
            <a:cxnLst/>
            <a:rect l="l" t="t" r="r" b="b"/>
            <a:pathLst>
              <a:path w="10727874" h="652329" extrusionOk="0">
                <a:moveTo>
                  <a:pt x="10727874" y="652329"/>
                </a:moveTo>
                <a:lnTo>
                  <a:pt x="0" y="652329"/>
                </a:lnTo>
                <a:lnTo>
                  <a:pt x="0" y="0"/>
                </a:lnTo>
                <a:lnTo>
                  <a:pt x="10727874" y="0"/>
                </a:lnTo>
                <a:lnTo>
                  <a:pt x="10727874" y="652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5272" b="-652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0" y="9976752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-933298" y="-19050"/>
            <a:ext cx="10972800" cy="589950"/>
          </a:xfrm>
          <a:custGeom>
            <a:avLst/>
            <a:gdLst/>
            <a:ahLst/>
            <a:cxnLst/>
            <a:rect l="l" t="t" r="r" b="b"/>
            <a:pathLst>
              <a:path w="10972800" h="589950" extrusionOk="0">
                <a:moveTo>
                  <a:pt x="0" y="0"/>
                </a:moveTo>
                <a:lnTo>
                  <a:pt x="10972800" y="0"/>
                </a:lnTo>
                <a:lnTo>
                  <a:pt x="10972800" y="589950"/>
                </a:lnTo>
                <a:lnTo>
                  <a:pt x="0" y="58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773" b="-807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9976761" y="-16326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155972" y="542325"/>
            <a:ext cx="10759671" cy="640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75" b="1">
                <a:solidFill>
                  <a:srgbClr val="E60000"/>
                </a:solidFill>
                <a:latin typeface="Arimo"/>
                <a:ea typeface="Arimo"/>
                <a:cs typeface="Arimo"/>
                <a:sym typeface="Arimo"/>
              </a:rPr>
              <a:t>Technical flow diagram -</a:t>
            </a:r>
            <a:endParaRPr/>
          </a:p>
        </p:txBody>
      </p:sp>
      <p:pic>
        <p:nvPicPr>
          <p:cNvPr id="275" name="Google Shape;27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0411" y="1129551"/>
            <a:ext cx="10040751" cy="8792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"/>
          <p:cNvSpPr/>
          <p:nvPr/>
        </p:nvSpPr>
        <p:spPr>
          <a:xfrm rot="10800000">
            <a:off x="8278587" y="9977571"/>
            <a:ext cx="10727874" cy="652329"/>
          </a:xfrm>
          <a:custGeom>
            <a:avLst/>
            <a:gdLst/>
            <a:ahLst/>
            <a:cxnLst/>
            <a:rect l="l" t="t" r="r" b="b"/>
            <a:pathLst>
              <a:path w="10727874" h="652329" extrusionOk="0">
                <a:moveTo>
                  <a:pt x="10727874" y="652329"/>
                </a:moveTo>
                <a:lnTo>
                  <a:pt x="0" y="652329"/>
                </a:lnTo>
                <a:lnTo>
                  <a:pt x="0" y="0"/>
                </a:lnTo>
                <a:lnTo>
                  <a:pt x="10727874" y="0"/>
                </a:lnTo>
                <a:lnTo>
                  <a:pt x="10727874" y="652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5272" b="-652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0" y="9976752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-933298" y="-19050"/>
            <a:ext cx="10972800" cy="589950"/>
          </a:xfrm>
          <a:custGeom>
            <a:avLst/>
            <a:gdLst/>
            <a:ahLst/>
            <a:cxnLst/>
            <a:rect l="l" t="t" r="r" b="b"/>
            <a:pathLst>
              <a:path w="10972800" h="589950" extrusionOk="0">
                <a:moveTo>
                  <a:pt x="0" y="0"/>
                </a:moveTo>
                <a:lnTo>
                  <a:pt x="10972800" y="0"/>
                </a:lnTo>
                <a:lnTo>
                  <a:pt x="10972800" y="589950"/>
                </a:lnTo>
                <a:lnTo>
                  <a:pt x="0" y="58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773" b="-807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9976761" y="-16326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669474" y="845010"/>
            <a:ext cx="8490861" cy="721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E60000"/>
                </a:solidFill>
                <a:latin typeface="Arimo"/>
                <a:ea typeface="Arimo"/>
                <a:cs typeface="Arimo"/>
                <a:sym typeface="Arimo"/>
              </a:rPr>
              <a:t>Architecture Blueprint</a:t>
            </a:r>
            <a:endParaRPr/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1507666"/>
            <a:ext cx="16306800" cy="8469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/>
          <p:nvPr/>
        </p:nvSpPr>
        <p:spPr>
          <a:xfrm rot="10800000">
            <a:off x="8278587" y="9977571"/>
            <a:ext cx="10727874" cy="652329"/>
          </a:xfrm>
          <a:custGeom>
            <a:avLst/>
            <a:gdLst/>
            <a:ahLst/>
            <a:cxnLst/>
            <a:rect l="l" t="t" r="r" b="b"/>
            <a:pathLst>
              <a:path w="10727874" h="652329" extrusionOk="0">
                <a:moveTo>
                  <a:pt x="10727874" y="652329"/>
                </a:moveTo>
                <a:lnTo>
                  <a:pt x="0" y="652329"/>
                </a:lnTo>
                <a:lnTo>
                  <a:pt x="0" y="0"/>
                </a:lnTo>
                <a:lnTo>
                  <a:pt x="10727874" y="0"/>
                </a:lnTo>
                <a:lnTo>
                  <a:pt x="10727874" y="652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5272" b="-652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0" y="9976752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-933298" y="-19050"/>
            <a:ext cx="10972800" cy="589950"/>
          </a:xfrm>
          <a:custGeom>
            <a:avLst/>
            <a:gdLst/>
            <a:ahLst/>
            <a:cxnLst/>
            <a:rect l="l" t="t" r="r" b="b"/>
            <a:pathLst>
              <a:path w="10972800" h="589950" extrusionOk="0">
                <a:moveTo>
                  <a:pt x="0" y="0"/>
                </a:moveTo>
                <a:lnTo>
                  <a:pt x="10972800" y="0"/>
                </a:lnTo>
                <a:lnTo>
                  <a:pt x="10972800" y="589950"/>
                </a:lnTo>
                <a:lnTo>
                  <a:pt x="0" y="58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773" b="-807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9976761" y="-16326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1981837" y="1704711"/>
            <a:ext cx="14324325" cy="7824663"/>
          </a:xfrm>
          <a:custGeom>
            <a:avLst/>
            <a:gdLst/>
            <a:ahLst/>
            <a:cxnLst/>
            <a:rect l="l" t="t" r="r" b="b"/>
            <a:pathLst>
              <a:path w="14324325" h="7824663" extrusionOk="0">
                <a:moveTo>
                  <a:pt x="0" y="0"/>
                </a:moveTo>
                <a:lnTo>
                  <a:pt x="14324326" y="0"/>
                </a:lnTo>
                <a:lnTo>
                  <a:pt x="14324326" y="7824663"/>
                </a:lnTo>
                <a:lnTo>
                  <a:pt x="0" y="78246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669474" y="845010"/>
            <a:ext cx="12179075" cy="721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E60000"/>
                </a:solidFill>
                <a:latin typeface="Arimo"/>
                <a:ea typeface="Arimo"/>
                <a:cs typeface="Arimo"/>
                <a:sym typeface="Arimo"/>
              </a:rPr>
              <a:t>Screen shots of your project -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"/>
          <p:cNvSpPr/>
          <p:nvPr/>
        </p:nvSpPr>
        <p:spPr>
          <a:xfrm rot="10800000">
            <a:off x="8278587" y="9977571"/>
            <a:ext cx="10727874" cy="652329"/>
          </a:xfrm>
          <a:custGeom>
            <a:avLst/>
            <a:gdLst/>
            <a:ahLst/>
            <a:cxnLst/>
            <a:rect l="l" t="t" r="r" b="b"/>
            <a:pathLst>
              <a:path w="10727874" h="652329" extrusionOk="0">
                <a:moveTo>
                  <a:pt x="10727874" y="652329"/>
                </a:moveTo>
                <a:lnTo>
                  <a:pt x="0" y="652329"/>
                </a:lnTo>
                <a:lnTo>
                  <a:pt x="0" y="0"/>
                </a:lnTo>
                <a:lnTo>
                  <a:pt x="10727874" y="0"/>
                </a:lnTo>
                <a:lnTo>
                  <a:pt x="10727874" y="652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5272" b="-652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0" y="9976752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-933298" y="-19050"/>
            <a:ext cx="10972800" cy="589950"/>
          </a:xfrm>
          <a:custGeom>
            <a:avLst/>
            <a:gdLst/>
            <a:ahLst/>
            <a:cxnLst/>
            <a:rect l="l" t="t" r="r" b="b"/>
            <a:pathLst>
              <a:path w="10972800" h="589950" extrusionOk="0">
                <a:moveTo>
                  <a:pt x="0" y="0"/>
                </a:moveTo>
                <a:lnTo>
                  <a:pt x="10972800" y="0"/>
                </a:lnTo>
                <a:lnTo>
                  <a:pt x="10972800" y="589950"/>
                </a:lnTo>
                <a:lnTo>
                  <a:pt x="0" y="58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773" b="-807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9976761" y="-16326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 txBox="1"/>
          <p:nvPr/>
        </p:nvSpPr>
        <p:spPr>
          <a:xfrm>
            <a:off x="669474" y="845010"/>
            <a:ext cx="12179075" cy="721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E60000"/>
                </a:solidFill>
                <a:latin typeface="Arimo"/>
                <a:ea typeface="Arimo"/>
                <a:cs typeface="Arimo"/>
                <a:sym typeface="Arimo"/>
              </a:rPr>
              <a:t>Screen shots of your project -</a:t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3210790" y="1566081"/>
            <a:ext cx="11715083" cy="8163924"/>
          </a:xfrm>
          <a:custGeom>
            <a:avLst/>
            <a:gdLst/>
            <a:ahLst/>
            <a:cxnLst/>
            <a:rect l="l" t="t" r="r" b="b"/>
            <a:pathLst>
              <a:path w="11715083" h="8163924" extrusionOk="0">
                <a:moveTo>
                  <a:pt x="0" y="0"/>
                </a:moveTo>
                <a:lnTo>
                  <a:pt x="11715083" y="0"/>
                </a:lnTo>
                <a:lnTo>
                  <a:pt x="11715083" y="8163924"/>
                </a:lnTo>
                <a:lnTo>
                  <a:pt x="0" y="8163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 w="28575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"/>
          <p:cNvSpPr/>
          <p:nvPr/>
        </p:nvSpPr>
        <p:spPr>
          <a:xfrm rot="10800000">
            <a:off x="8278587" y="9977571"/>
            <a:ext cx="10727874" cy="652329"/>
          </a:xfrm>
          <a:custGeom>
            <a:avLst/>
            <a:gdLst/>
            <a:ahLst/>
            <a:cxnLst/>
            <a:rect l="l" t="t" r="r" b="b"/>
            <a:pathLst>
              <a:path w="10727874" h="652329" extrusionOk="0">
                <a:moveTo>
                  <a:pt x="10727874" y="652329"/>
                </a:moveTo>
                <a:lnTo>
                  <a:pt x="0" y="652329"/>
                </a:lnTo>
                <a:lnTo>
                  <a:pt x="0" y="0"/>
                </a:lnTo>
                <a:lnTo>
                  <a:pt x="10727874" y="0"/>
                </a:lnTo>
                <a:lnTo>
                  <a:pt x="10727874" y="652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5272" b="-652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0" y="9976752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-933298" y="-19050"/>
            <a:ext cx="10972800" cy="589950"/>
          </a:xfrm>
          <a:custGeom>
            <a:avLst/>
            <a:gdLst/>
            <a:ahLst/>
            <a:cxnLst/>
            <a:rect l="l" t="t" r="r" b="b"/>
            <a:pathLst>
              <a:path w="10972800" h="589950" extrusionOk="0">
                <a:moveTo>
                  <a:pt x="0" y="0"/>
                </a:moveTo>
                <a:lnTo>
                  <a:pt x="10972800" y="0"/>
                </a:lnTo>
                <a:lnTo>
                  <a:pt x="10972800" y="589950"/>
                </a:lnTo>
                <a:lnTo>
                  <a:pt x="0" y="58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773" b="-807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9976761" y="-16326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1813936" y="1785694"/>
            <a:ext cx="14660128" cy="7971444"/>
          </a:xfrm>
          <a:custGeom>
            <a:avLst/>
            <a:gdLst/>
            <a:ahLst/>
            <a:cxnLst/>
            <a:rect l="l" t="t" r="r" b="b"/>
            <a:pathLst>
              <a:path w="14660128" h="7971444" extrusionOk="0">
                <a:moveTo>
                  <a:pt x="0" y="0"/>
                </a:moveTo>
                <a:lnTo>
                  <a:pt x="14660128" y="0"/>
                </a:lnTo>
                <a:lnTo>
                  <a:pt x="14660128" y="7971445"/>
                </a:lnTo>
                <a:lnTo>
                  <a:pt x="0" y="7971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 txBox="1"/>
          <p:nvPr/>
        </p:nvSpPr>
        <p:spPr>
          <a:xfrm>
            <a:off x="669474" y="845010"/>
            <a:ext cx="12179075" cy="721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E60000"/>
                </a:solidFill>
                <a:latin typeface="Arimo"/>
                <a:ea typeface="Arimo"/>
                <a:cs typeface="Arimo"/>
                <a:sym typeface="Arimo"/>
              </a:rPr>
              <a:t>Screen shots of your project -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"/>
          <p:cNvSpPr/>
          <p:nvPr/>
        </p:nvSpPr>
        <p:spPr>
          <a:xfrm rot="10800000">
            <a:off x="8278587" y="9977571"/>
            <a:ext cx="10727874" cy="652329"/>
          </a:xfrm>
          <a:custGeom>
            <a:avLst/>
            <a:gdLst/>
            <a:ahLst/>
            <a:cxnLst/>
            <a:rect l="l" t="t" r="r" b="b"/>
            <a:pathLst>
              <a:path w="10727874" h="652329" extrusionOk="0">
                <a:moveTo>
                  <a:pt x="10727874" y="652329"/>
                </a:moveTo>
                <a:lnTo>
                  <a:pt x="0" y="652329"/>
                </a:lnTo>
                <a:lnTo>
                  <a:pt x="0" y="0"/>
                </a:lnTo>
                <a:lnTo>
                  <a:pt x="10727874" y="0"/>
                </a:lnTo>
                <a:lnTo>
                  <a:pt x="10727874" y="652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5272" b="-652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0" y="9976752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-933298" y="-19050"/>
            <a:ext cx="10972800" cy="589950"/>
          </a:xfrm>
          <a:custGeom>
            <a:avLst/>
            <a:gdLst/>
            <a:ahLst/>
            <a:cxnLst/>
            <a:rect l="l" t="t" r="r" b="b"/>
            <a:pathLst>
              <a:path w="10972800" h="589950" extrusionOk="0">
                <a:moveTo>
                  <a:pt x="0" y="0"/>
                </a:moveTo>
                <a:lnTo>
                  <a:pt x="10972800" y="0"/>
                </a:lnTo>
                <a:lnTo>
                  <a:pt x="10972800" y="589950"/>
                </a:lnTo>
                <a:lnTo>
                  <a:pt x="0" y="58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773" b="-807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10039502" y="-33261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3790732" y="2547476"/>
            <a:ext cx="5165939" cy="6535763"/>
          </a:xfrm>
          <a:custGeom>
            <a:avLst/>
            <a:gdLst/>
            <a:ahLst/>
            <a:cxnLst/>
            <a:rect l="l" t="t" r="r" b="b"/>
            <a:pathLst>
              <a:path w="5165939" h="6535763" extrusionOk="0">
                <a:moveTo>
                  <a:pt x="0" y="0"/>
                </a:moveTo>
                <a:lnTo>
                  <a:pt x="5165939" y="0"/>
                </a:lnTo>
                <a:lnTo>
                  <a:pt x="5165939" y="6535764"/>
                </a:lnTo>
                <a:lnTo>
                  <a:pt x="0" y="6535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999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1" name="Google Shape;341;p13"/>
          <p:cNvGrpSpPr/>
          <p:nvPr/>
        </p:nvGrpSpPr>
        <p:grpSpPr>
          <a:xfrm>
            <a:off x="3813878" y="6940385"/>
            <a:ext cx="4951433" cy="2741543"/>
            <a:chOff x="0" y="-19050"/>
            <a:chExt cx="1097727" cy="607797"/>
          </a:xfrm>
        </p:grpSpPr>
        <p:sp>
          <p:nvSpPr>
            <p:cNvPr id="342" name="Google Shape;342;p13"/>
            <p:cNvSpPr/>
            <p:nvPr/>
          </p:nvSpPr>
          <p:spPr>
            <a:xfrm>
              <a:off x="0" y="0"/>
              <a:ext cx="1097727" cy="588747"/>
            </a:xfrm>
            <a:custGeom>
              <a:avLst/>
              <a:gdLst/>
              <a:ahLst/>
              <a:cxnLst/>
              <a:rect l="l" t="t" r="r" b="b"/>
              <a:pathLst>
                <a:path w="1097727" h="588747" extrusionOk="0">
                  <a:moveTo>
                    <a:pt x="15636" y="0"/>
                  </a:moveTo>
                  <a:lnTo>
                    <a:pt x="1082091" y="0"/>
                  </a:lnTo>
                  <a:cubicBezTo>
                    <a:pt x="1090727" y="0"/>
                    <a:pt x="1097727" y="7000"/>
                    <a:pt x="1097727" y="15636"/>
                  </a:cubicBezTo>
                  <a:lnTo>
                    <a:pt x="1097727" y="573111"/>
                  </a:lnTo>
                  <a:cubicBezTo>
                    <a:pt x="1097727" y="581747"/>
                    <a:pt x="1090727" y="588747"/>
                    <a:pt x="1082091" y="588747"/>
                  </a:cubicBezTo>
                  <a:lnTo>
                    <a:pt x="15636" y="588747"/>
                  </a:lnTo>
                  <a:cubicBezTo>
                    <a:pt x="7000" y="588747"/>
                    <a:pt x="0" y="581747"/>
                    <a:pt x="0" y="573111"/>
                  </a:cubicBezTo>
                  <a:lnTo>
                    <a:pt x="0" y="15636"/>
                  </a:lnTo>
                  <a:cubicBezTo>
                    <a:pt x="0" y="7000"/>
                    <a:pt x="7000" y="0"/>
                    <a:pt x="15636" y="0"/>
                  </a:cubicBezTo>
                  <a:close/>
                </a:path>
              </a:pathLst>
            </a:custGeom>
            <a:solidFill>
              <a:srgbClr val="FFBD59"/>
            </a:solidFill>
            <a:ln w="57150" cap="sq" cmpd="sng">
              <a:solidFill>
                <a:srgbClr val="FF914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3"/>
            <p:cNvSpPr txBox="1"/>
            <p:nvPr/>
          </p:nvSpPr>
          <p:spPr>
            <a:xfrm>
              <a:off x="0" y="-19050"/>
              <a:ext cx="1097727" cy="6077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925" tIns="52925" rIns="52925" bIns="52925" anchor="ctr" anchorCtr="0">
              <a:noAutofit/>
            </a:bodyPr>
            <a:lstStyle/>
            <a:p>
              <a:pPr marL="0" marR="0" lvl="0" indent="0" algn="ctr" rtl="0">
                <a:lnSpc>
                  <a:spcPct val="15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4" name="Google Shape;344;p13"/>
          <p:cNvGrpSpPr/>
          <p:nvPr/>
        </p:nvGrpSpPr>
        <p:grpSpPr>
          <a:xfrm>
            <a:off x="7522623" y="3999822"/>
            <a:ext cx="4750677" cy="2602705"/>
            <a:chOff x="0" y="-19050"/>
            <a:chExt cx="1097727" cy="601401"/>
          </a:xfrm>
        </p:grpSpPr>
        <p:sp>
          <p:nvSpPr>
            <p:cNvPr id="345" name="Google Shape;345;p13"/>
            <p:cNvSpPr/>
            <p:nvPr/>
          </p:nvSpPr>
          <p:spPr>
            <a:xfrm>
              <a:off x="0" y="0"/>
              <a:ext cx="1097727" cy="582351"/>
            </a:xfrm>
            <a:custGeom>
              <a:avLst/>
              <a:gdLst/>
              <a:ahLst/>
              <a:cxnLst/>
              <a:rect l="l" t="t" r="r" b="b"/>
              <a:pathLst>
                <a:path w="1097727" h="582351" extrusionOk="0">
                  <a:moveTo>
                    <a:pt x="16296" y="0"/>
                  </a:moveTo>
                  <a:lnTo>
                    <a:pt x="1081431" y="0"/>
                  </a:lnTo>
                  <a:cubicBezTo>
                    <a:pt x="1090431" y="0"/>
                    <a:pt x="1097727" y="7296"/>
                    <a:pt x="1097727" y="16296"/>
                  </a:cubicBezTo>
                  <a:lnTo>
                    <a:pt x="1097727" y="566054"/>
                  </a:lnTo>
                  <a:cubicBezTo>
                    <a:pt x="1097727" y="575055"/>
                    <a:pt x="1090431" y="582351"/>
                    <a:pt x="1081431" y="582351"/>
                  </a:cubicBezTo>
                  <a:lnTo>
                    <a:pt x="16296" y="582351"/>
                  </a:lnTo>
                  <a:cubicBezTo>
                    <a:pt x="7296" y="582351"/>
                    <a:pt x="0" y="575055"/>
                    <a:pt x="0" y="566054"/>
                  </a:cubicBezTo>
                  <a:lnTo>
                    <a:pt x="0" y="16296"/>
                  </a:lnTo>
                  <a:cubicBezTo>
                    <a:pt x="0" y="7296"/>
                    <a:pt x="7296" y="0"/>
                    <a:pt x="16296" y="0"/>
                  </a:cubicBezTo>
                  <a:close/>
                </a:path>
              </a:pathLst>
            </a:custGeom>
            <a:solidFill>
              <a:srgbClr val="FFBD59"/>
            </a:solidFill>
            <a:ln w="38100" cap="sq" cmpd="sng">
              <a:solidFill>
                <a:srgbClr val="FF914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3"/>
            <p:cNvSpPr txBox="1"/>
            <p:nvPr/>
          </p:nvSpPr>
          <p:spPr>
            <a:xfrm>
              <a:off x="0" y="-19050"/>
              <a:ext cx="1097727" cy="601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" name="Google Shape;347;p13"/>
          <p:cNvGrpSpPr/>
          <p:nvPr/>
        </p:nvGrpSpPr>
        <p:grpSpPr>
          <a:xfrm>
            <a:off x="530409" y="3999822"/>
            <a:ext cx="4750633" cy="2630363"/>
            <a:chOff x="0" y="-19050"/>
            <a:chExt cx="1097727" cy="607797"/>
          </a:xfrm>
        </p:grpSpPr>
        <p:sp>
          <p:nvSpPr>
            <p:cNvPr id="348" name="Google Shape;348;p13"/>
            <p:cNvSpPr/>
            <p:nvPr/>
          </p:nvSpPr>
          <p:spPr>
            <a:xfrm>
              <a:off x="0" y="0"/>
              <a:ext cx="1097727" cy="588747"/>
            </a:xfrm>
            <a:custGeom>
              <a:avLst/>
              <a:gdLst/>
              <a:ahLst/>
              <a:cxnLst/>
              <a:rect l="l" t="t" r="r" b="b"/>
              <a:pathLst>
                <a:path w="1097727" h="588747" extrusionOk="0">
                  <a:moveTo>
                    <a:pt x="16296" y="0"/>
                  </a:moveTo>
                  <a:lnTo>
                    <a:pt x="1081431" y="0"/>
                  </a:lnTo>
                  <a:cubicBezTo>
                    <a:pt x="1090431" y="0"/>
                    <a:pt x="1097727" y="7296"/>
                    <a:pt x="1097727" y="16296"/>
                  </a:cubicBezTo>
                  <a:lnTo>
                    <a:pt x="1097727" y="572451"/>
                  </a:lnTo>
                  <a:cubicBezTo>
                    <a:pt x="1097727" y="581451"/>
                    <a:pt x="1090431" y="588747"/>
                    <a:pt x="1081431" y="588747"/>
                  </a:cubicBezTo>
                  <a:lnTo>
                    <a:pt x="16296" y="588747"/>
                  </a:lnTo>
                  <a:cubicBezTo>
                    <a:pt x="7296" y="588747"/>
                    <a:pt x="0" y="581451"/>
                    <a:pt x="0" y="572451"/>
                  </a:cubicBezTo>
                  <a:lnTo>
                    <a:pt x="0" y="16296"/>
                  </a:lnTo>
                  <a:cubicBezTo>
                    <a:pt x="0" y="7296"/>
                    <a:pt x="7296" y="0"/>
                    <a:pt x="16296" y="0"/>
                  </a:cubicBezTo>
                  <a:close/>
                </a:path>
              </a:pathLst>
            </a:custGeom>
            <a:solidFill>
              <a:srgbClr val="FFBD59"/>
            </a:solidFill>
            <a:ln w="57150" cap="sq" cmpd="sng">
              <a:solidFill>
                <a:srgbClr val="FF914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3"/>
            <p:cNvSpPr txBox="1"/>
            <p:nvPr/>
          </p:nvSpPr>
          <p:spPr>
            <a:xfrm>
              <a:off x="0" y="-19050"/>
              <a:ext cx="1097727" cy="6077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50" name="Google Shape;350;p13"/>
          <p:cNvCxnSpPr/>
          <p:nvPr/>
        </p:nvCxnSpPr>
        <p:spPr>
          <a:xfrm flipH="1">
            <a:off x="9892533" y="2795064"/>
            <a:ext cx="5428" cy="1287013"/>
          </a:xfrm>
          <a:prstGeom prst="straightConnector1">
            <a:avLst/>
          </a:prstGeom>
          <a:noFill/>
          <a:ln w="476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1" name="Google Shape;351;p13"/>
          <p:cNvCxnSpPr/>
          <p:nvPr/>
        </p:nvCxnSpPr>
        <p:spPr>
          <a:xfrm>
            <a:off x="2873178" y="2814754"/>
            <a:ext cx="7030212" cy="0"/>
          </a:xfrm>
          <a:prstGeom prst="straightConnector1">
            <a:avLst/>
          </a:prstGeom>
          <a:noFill/>
          <a:ln w="476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2" name="Google Shape;352;p13"/>
          <p:cNvCxnSpPr/>
          <p:nvPr/>
        </p:nvCxnSpPr>
        <p:spPr>
          <a:xfrm>
            <a:off x="6373702" y="4082351"/>
            <a:ext cx="0" cy="2943961"/>
          </a:xfrm>
          <a:prstGeom prst="straightConnector1">
            <a:avLst/>
          </a:prstGeom>
          <a:noFill/>
          <a:ln w="476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3" name="Google Shape;353;p13"/>
          <p:cNvGrpSpPr/>
          <p:nvPr/>
        </p:nvGrpSpPr>
        <p:grpSpPr>
          <a:xfrm>
            <a:off x="4958323" y="1374948"/>
            <a:ext cx="2879612" cy="2879612"/>
            <a:chOff x="0" y="0"/>
            <a:chExt cx="812800" cy="812800"/>
          </a:xfrm>
        </p:grpSpPr>
        <p:sp>
          <p:nvSpPr>
            <p:cNvPr id="354" name="Google Shape;354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  <a:ln w="1047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900" tIns="57900" rIns="57900" bIns="57900" anchor="ctr" anchorCtr="0">
              <a:noAutofit/>
            </a:bodyPr>
            <a:lstStyle/>
            <a:p>
              <a:pPr marL="0" marR="0" lvl="0" indent="0" algn="ctr" rtl="0">
                <a:lnSpc>
                  <a:spcPct val="15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56" name="Google Shape;356;p13"/>
          <p:cNvCxnSpPr/>
          <p:nvPr/>
        </p:nvCxnSpPr>
        <p:spPr>
          <a:xfrm flipH="1">
            <a:off x="2900094" y="2814855"/>
            <a:ext cx="5428" cy="1287013"/>
          </a:xfrm>
          <a:prstGeom prst="straightConnector1">
            <a:avLst/>
          </a:prstGeom>
          <a:noFill/>
          <a:ln w="476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7" name="Google Shape;357;p13"/>
          <p:cNvGrpSpPr/>
          <p:nvPr/>
        </p:nvGrpSpPr>
        <p:grpSpPr>
          <a:xfrm>
            <a:off x="13539645" y="5690743"/>
            <a:ext cx="3795836" cy="3729952"/>
            <a:chOff x="0" y="-38100"/>
            <a:chExt cx="999726" cy="982374"/>
          </a:xfrm>
        </p:grpSpPr>
        <p:sp>
          <p:nvSpPr>
            <p:cNvPr id="358" name="Google Shape;358;p13"/>
            <p:cNvSpPr/>
            <p:nvPr/>
          </p:nvSpPr>
          <p:spPr>
            <a:xfrm>
              <a:off x="0" y="0"/>
              <a:ext cx="999726" cy="944274"/>
            </a:xfrm>
            <a:custGeom>
              <a:avLst/>
              <a:gdLst/>
              <a:ahLst/>
              <a:cxnLst/>
              <a:rect l="l" t="t" r="r" b="b"/>
              <a:pathLst>
                <a:path w="999726" h="944274" extrusionOk="0">
                  <a:moveTo>
                    <a:pt x="57108" y="0"/>
                  </a:moveTo>
                  <a:lnTo>
                    <a:pt x="942618" y="0"/>
                  </a:lnTo>
                  <a:cubicBezTo>
                    <a:pt x="974158" y="0"/>
                    <a:pt x="999726" y="25568"/>
                    <a:pt x="999726" y="57108"/>
                  </a:cubicBezTo>
                  <a:lnTo>
                    <a:pt x="999726" y="887166"/>
                  </a:lnTo>
                  <a:cubicBezTo>
                    <a:pt x="999726" y="918706"/>
                    <a:pt x="974158" y="944274"/>
                    <a:pt x="942618" y="944274"/>
                  </a:cubicBezTo>
                  <a:lnTo>
                    <a:pt x="57108" y="944274"/>
                  </a:lnTo>
                  <a:cubicBezTo>
                    <a:pt x="41962" y="944274"/>
                    <a:pt x="27437" y="938257"/>
                    <a:pt x="16727" y="927548"/>
                  </a:cubicBezTo>
                  <a:cubicBezTo>
                    <a:pt x="6017" y="916838"/>
                    <a:pt x="0" y="902312"/>
                    <a:pt x="0" y="887166"/>
                  </a:cubicBezTo>
                  <a:lnTo>
                    <a:pt x="0" y="57108"/>
                  </a:lnTo>
                  <a:cubicBezTo>
                    <a:pt x="0" y="41962"/>
                    <a:pt x="6017" y="27437"/>
                    <a:pt x="16727" y="16727"/>
                  </a:cubicBezTo>
                  <a:cubicBezTo>
                    <a:pt x="27437" y="6017"/>
                    <a:pt x="41962" y="0"/>
                    <a:pt x="57108" y="0"/>
                  </a:cubicBezTo>
                  <a:close/>
                </a:path>
              </a:pathLst>
            </a:custGeom>
            <a:solidFill>
              <a:srgbClr val="E0E1E4">
                <a:alpha val="53725"/>
              </a:srgbClr>
            </a:solidFill>
            <a:ln w="38100" cap="rnd" cmpd="sng">
              <a:solidFill>
                <a:srgbClr val="000000">
                  <a:alpha val="53725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3"/>
            <p:cNvSpPr txBox="1"/>
            <p:nvPr/>
          </p:nvSpPr>
          <p:spPr>
            <a:xfrm>
              <a:off x="0" y="-38100"/>
              <a:ext cx="999726" cy="982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" name="Google Shape;360;p13"/>
          <p:cNvSpPr/>
          <p:nvPr/>
        </p:nvSpPr>
        <p:spPr>
          <a:xfrm>
            <a:off x="13638057" y="1648316"/>
            <a:ext cx="3758393" cy="3495184"/>
          </a:xfrm>
          <a:custGeom>
            <a:avLst/>
            <a:gdLst/>
            <a:ahLst/>
            <a:cxnLst/>
            <a:rect l="l" t="t" r="r" b="b"/>
            <a:pathLst>
              <a:path w="1105598" h="1028170" extrusionOk="0">
                <a:moveTo>
                  <a:pt x="47378" y="0"/>
                </a:moveTo>
                <a:lnTo>
                  <a:pt x="1058220" y="0"/>
                </a:lnTo>
                <a:cubicBezTo>
                  <a:pt x="1084386" y="0"/>
                  <a:pt x="1105598" y="21212"/>
                  <a:pt x="1105598" y="47378"/>
                </a:cubicBezTo>
                <a:lnTo>
                  <a:pt x="1105598" y="980792"/>
                </a:lnTo>
                <a:cubicBezTo>
                  <a:pt x="1105598" y="1006958"/>
                  <a:pt x="1084386" y="1028170"/>
                  <a:pt x="1058220" y="1028170"/>
                </a:cubicBezTo>
                <a:lnTo>
                  <a:pt x="47378" y="1028170"/>
                </a:lnTo>
                <a:cubicBezTo>
                  <a:pt x="34812" y="1028170"/>
                  <a:pt x="22762" y="1023179"/>
                  <a:pt x="13877" y="1014294"/>
                </a:cubicBezTo>
                <a:cubicBezTo>
                  <a:pt x="4992" y="1005408"/>
                  <a:pt x="0" y="993358"/>
                  <a:pt x="0" y="980792"/>
                </a:cubicBezTo>
                <a:lnTo>
                  <a:pt x="0" y="47378"/>
                </a:lnTo>
                <a:cubicBezTo>
                  <a:pt x="0" y="21212"/>
                  <a:pt x="21212" y="0"/>
                  <a:pt x="47378" y="0"/>
                </a:cubicBezTo>
                <a:close/>
              </a:path>
            </a:pathLst>
          </a:custGeom>
          <a:blipFill rotWithShape="1">
            <a:blip r:embed="rId5">
              <a:alphaModFix amt="61000"/>
            </a:blip>
            <a:stretch>
              <a:fillRect l="-27034" r="-27032"/>
            </a:stretch>
          </a:blipFill>
          <a:ln w="76200" cap="rnd" cmpd="sng">
            <a:solidFill>
              <a:srgbClr val="000000">
                <a:alpha val="60784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 txBox="1"/>
          <p:nvPr/>
        </p:nvSpPr>
        <p:spPr>
          <a:xfrm>
            <a:off x="215575" y="653875"/>
            <a:ext cx="7329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E60000"/>
                </a:solidFill>
                <a:latin typeface="Arimo"/>
                <a:ea typeface="Arimo"/>
                <a:cs typeface="Arimo"/>
                <a:sym typeface="Arimo"/>
              </a:rPr>
              <a:t>Novelty and Uniqueness</a:t>
            </a:r>
            <a:endParaRPr/>
          </a:p>
        </p:txBody>
      </p:sp>
      <p:sp>
        <p:nvSpPr>
          <p:cNvPr id="362" name="Google Shape;362;p13"/>
          <p:cNvSpPr txBox="1"/>
          <p:nvPr/>
        </p:nvSpPr>
        <p:spPr>
          <a:xfrm>
            <a:off x="5251580" y="2040894"/>
            <a:ext cx="2293099" cy="1410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7" b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Farmer (More Than a Cultivator)</a:t>
            </a:r>
            <a:endParaRPr/>
          </a:p>
        </p:txBody>
      </p:sp>
      <p:sp>
        <p:nvSpPr>
          <p:cNvPr id="363" name="Google Shape;363;p13"/>
          <p:cNvSpPr txBox="1"/>
          <p:nvPr/>
        </p:nvSpPr>
        <p:spPr>
          <a:xfrm>
            <a:off x="4120281" y="7500170"/>
            <a:ext cx="4338600" cy="21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5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10+ unique inputs per farmer: Capital, land, skills, market access, risk tolerance. Every farmer gets a different business model. Zero generic templates. True individual intelligence.</a:t>
            </a:r>
            <a:endParaRPr sz="1300"/>
          </a:p>
        </p:txBody>
      </p:sp>
      <p:sp>
        <p:nvSpPr>
          <p:cNvPr id="364" name="Google Shape;364;p13"/>
          <p:cNvSpPr txBox="1"/>
          <p:nvPr/>
        </p:nvSpPr>
        <p:spPr>
          <a:xfrm>
            <a:off x="7466325" y="4623825"/>
            <a:ext cx="4750800" cy="17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2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Disease detected early? Save it. Too late? Monetize the waste. Farmers burn ₹2 lakh Cr/year. We turn total loss into partial recovery. First dual-model platform.</a:t>
            </a:r>
            <a:endParaRPr sz="1200"/>
          </a:p>
        </p:txBody>
      </p:sp>
      <p:sp>
        <p:nvSpPr>
          <p:cNvPr id="365" name="Google Shape;365;p13"/>
          <p:cNvSpPr txBox="1"/>
          <p:nvPr/>
        </p:nvSpPr>
        <p:spPr>
          <a:xfrm>
            <a:off x="652362" y="4618275"/>
            <a:ext cx="45009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44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Purandar Airport, Samruddhi Mahamarg = 50,000+ compensated farmers by 2030. Our research: Wealth wasted. Zero advisory. We fill the gap.</a:t>
            </a:r>
            <a:endParaRPr sz="1300"/>
          </a:p>
        </p:txBody>
      </p:sp>
      <p:sp>
        <p:nvSpPr>
          <p:cNvPr id="366" name="Google Shape;366;p13"/>
          <p:cNvSpPr txBox="1"/>
          <p:nvPr/>
        </p:nvSpPr>
        <p:spPr>
          <a:xfrm>
            <a:off x="7611904" y="766628"/>
            <a:ext cx="9540630" cy="41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8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Unique Platform that understands the human behind the Farm</a:t>
            </a:r>
            <a:endParaRPr/>
          </a:p>
        </p:txBody>
      </p:sp>
      <p:sp>
        <p:nvSpPr>
          <p:cNvPr id="367" name="Google Shape;367;p13"/>
          <p:cNvSpPr txBox="1"/>
          <p:nvPr/>
        </p:nvSpPr>
        <p:spPr>
          <a:xfrm>
            <a:off x="954148" y="4206743"/>
            <a:ext cx="3838060" cy="658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7" b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Only Platform Teaching Wealth Creation:</a:t>
            </a:r>
            <a:endParaRPr/>
          </a:p>
        </p:txBody>
      </p:sp>
      <p:sp>
        <p:nvSpPr>
          <p:cNvPr id="368" name="Google Shape;368;p13"/>
          <p:cNvSpPr txBox="1"/>
          <p:nvPr/>
        </p:nvSpPr>
        <p:spPr>
          <a:xfrm>
            <a:off x="8320159" y="4206743"/>
            <a:ext cx="3135394" cy="658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7" b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Win Either Way Treatment or Revenue:</a:t>
            </a:r>
            <a:endParaRPr/>
          </a:p>
        </p:txBody>
      </p:sp>
      <p:sp>
        <p:nvSpPr>
          <p:cNvPr id="369" name="Google Shape;369;p13"/>
          <p:cNvSpPr txBox="1"/>
          <p:nvPr/>
        </p:nvSpPr>
        <p:spPr>
          <a:xfrm>
            <a:off x="4792208" y="7159662"/>
            <a:ext cx="3135394" cy="658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7" b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 Two Farmers Get the Same Advice:</a:t>
            </a:r>
            <a:endParaRPr/>
          </a:p>
        </p:txBody>
      </p:sp>
      <p:sp>
        <p:nvSpPr>
          <p:cNvPr id="370" name="Google Shape;370;p13"/>
          <p:cNvSpPr txBox="1"/>
          <p:nvPr/>
        </p:nvSpPr>
        <p:spPr>
          <a:xfrm>
            <a:off x="13676795" y="6373162"/>
            <a:ext cx="3658686" cy="1132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78" i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Bharatmala Pariyojana (morth.nic.in), Samruddhi Mahamarg (msrdc.org), Purandar Airport (aai.aero). Field research: Sharad Jagtap (Purandar), Kiran Salgude (Lasalgaon).</a:t>
            </a:r>
            <a:endParaRPr/>
          </a:p>
        </p:txBody>
      </p:sp>
      <p:sp>
        <p:nvSpPr>
          <p:cNvPr id="371" name="Google Shape;371;p13"/>
          <p:cNvSpPr txBox="1"/>
          <p:nvPr/>
        </p:nvSpPr>
        <p:spPr>
          <a:xfrm>
            <a:off x="13676795" y="7698703"/>
            <a:ext cx="3658686" cy="683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78" i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IFPRI Study 2019 on crop burning economic loss. PlantVillage Dataset (Mohanty et al., 2016).</a:t>
            </a:r>
            <a:endParaRPr/>
          </a:p>
        </p:txBody>
      </p:sp>
      <p:sp>
        <p:nvSpPr>
          <p:cNvPr id="372" name="Google Shape;372;p13"/>
          <p:cNvSpPr txBox="1"/>
          <p:nvPr/>
        </p:nvSpPr>
        <p:spPr>
          <a:xfrm>
            <a:off x="13676795" y="8575182"/>
            <a:ext cx="3658686" cy="683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78" i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Adjacent Players analysis: AgroStar, DeHaat, BharatAgri (crop-generic advisory platforms).</a:t>
            </a:r>
            <a:endParaRPr/>
          </a:p>
        </p:txBody>
      </p:sp>
      <p:sp>
        <p:nvSpPr>
          <p:cNvPr id="373" name="Google Shape;373;p13"/>
          <p:cNvSpPr txBox="1"/>
          <p:nvPr/>
        </p:nvSpPr>
        <p:spPr>
          <a:xfrm>
            <a:off x="13676795" y="5944537"/>
            <a:ext cx="365868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8" b="1" i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Sources:</a:t>
            </a:r>
            <a:endParaRPr/>
          </a:p>
        </p:txBody>
      </p:sp>
      <p:sp>
        <p:nvSpPr>
          <p:cNvPr id="374" name="Google Shape;374;p13"/>
          <p:cNvSpPr txBox="1"/>
          <p:nvPr/>
        </p:nvSpPr>
        <p:spPr>
          <a:xfrm>
            <a:off x="13717175" y="1820019"/>
            <a:ext cx="3440700" cy="11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57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Blue Ocean Strategy</a:t>
            </a:r>
            <a:endParaRPr b="1"/>
          </a:p>
        </p:txBody>
      </p:sp>
      <p:sp>
        <p:nvSpPr>
          <p:cNvPr id="375" name="Google Shape;375;p13"/>
          <p:cNvSpPr txBox="1"/>
          <p:nvPr/>
        </p:nvSpPr>
        <p:spPr>
          <a:xfrm>
            <a:off x="13879195" y="3056313"/>
            <a:ext cx="3276000" cy="20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competing. Creating a new niche: "Farmer Wealth Management + Sustainability Marketplace"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4"/>
          <p:cNvSpPr/>
          <p:nvPr/>
        </p:nvSpPr>
        <p:spPr>
          <a:xfrm rot="10800000">
            <a:off x="8278587" y="9977571"/>
            <a:ext cx="10727874" cy="652329"/>
          </a:xfrm>
          <a:custGeom>
            <a:avLst/>
            <a:gdLst/>
            <a:ahLst/>
            <a:cxnLst/>
            <a:rect l="l" t="t" r="r" b="b"/>
            <a:pathLst>
              <a:path w="10727874" h="652329" extrusionOk="0">
                <a:moveTo>
                  <a:pt x="10727874" y="652329"/>
                </a:moveTo>
                <a:lnTo>
                  <a:pt x="0" y="652329"/>
                </a:lnTo>
                <a:lnTo>
                  <a:pt x="0" y="0"/>
                </a:lnTo>
                <a:lnTo>
                  <a:pt x="10727874" y="0"/>
                </a:lnTo>
                <a:lnTo>
                  <a:pt x="10727874" y="652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5272" b="-652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0" y="9976752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-933298" y="-19050"/>
            <a:ext cx="10972800" cy="589950"/>
          </a:xfrm>
          <a:custGeom>
            <a:avLst/>
            <a:gdLst/>
            <a:ahLst/>
            <a:cxnLst/>
            <a:rect l="l" t="t" r="r" b="b"/>
            <a:pathLst>
              <a:path w="10972800" h="589950" extrusionOk="0">
                <a:moveTo>
                  <a:pt x="0" y="0"/>
                </a:moveTo>
                <a:lnTo>
                  <a:pt x="10972800" y="0"/>
                </a:lnTo>
                <a:lnTo>
                  <a:pt x="10972800" y="589950"/>
                </a:lnTo>
                <a:lnTo>
                  <a:pt x="0" y="58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773" b="-807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9976761" y="-16326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7150421" y="1741753"/>
            <a:ext cx="9925285" cy="8059328"/>
          </a:xfrm>
          <a:custGeom>
            <a:avLst/>
            <a:gdLst/>
            <a:ahLst/>
            <a:cxnLst/>
            <a:rect l="l" t="t" r="r" b="b"/>
            <a:pathLst>
              <a:path w="9925285" h="8059328" extrusionOk="0">
                <a:moveTo>
                  <a:pt x="0" y="0"/>
                </a:moveTo>
                <a:lnTo>
                  <a:pt x="9925286" y="0"/>
                </a:lnTo>
                <a:lnTo>
                  <a:pt x="9925286" y="8059328"/>
                </a:lnTo>
                <a:lnTo>
                  <a:pt x="0" y="8059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995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1253734" y="3474866"/>
            <a:ext cx="4093579" cy="4093579"/>
          </a:xfrm>
          <a:custGeom>
            <a:avLst/>
            <a:gdLst/>
            <a:ahLst/>
            <a:cxnLst/>
            <a:rect l="l" t="t" r="r" b="b"/>
            <a:pathLst>
              <a:path w="4093579" h="4093579" extrusionOk="0">
                <a:moveTo>
                  <a:pt x="0" y="0"/>
                </a:moveTo>
                <a:lnTo>
                  <a:pt x="4093579" y="0"/>
                </a:lnTo>
                <a:lnTo>
                  <a:pt x="4093579" y="4093579"/>
                </a:lnTo>
                <a:lnTo>
                  <a:pt x="0" y="409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 txBox="1"/>
          <p:nvPr/>
        </p:nvSpPr>
        <p:spPr>
          <a:xfrm>
            <a:off x="669474" y="845010"/>
            <a:ext cx="12017826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E60000"/>
                </a:solidFill>
                <a:latin typeface="Arimo"/>
                <a:ea typeface="Arimo"/>
                <a:cs typeface="Arimo"/>
                <a:sym typeface="Arimo"/>
              </a:rPr>
              <a:t>GitHub Link</a:t>
            </a:r>
            <a:endParaRPr/>
          </a:p>
        </p:txBody>
      </p:sp>
      <p:sp>
        <p:nvSpPr>
          <p:cNvPr id="391" name="Google Shape;391;p14"/>
          <p:cNvSpPr txBox="1"/>
          <p:nvPr/>
        </p:nvSpPr>
        <p:spPr>
          <a:xfrm>
            <a:off x="5144382" y="758398"/>
            <a:ext cx="11772018" cy="74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99" u="sng">
                <a:solidFill>
                  <a:srgbClr val="0070C0"/>
                </a:solidFill>
                <a:latin typeface="Arimo"/>
                <a:ea typeface="Arimo"/>
                <a:cs typeface="Arimo"/>
                <a:sym typeface="Arimo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https://github.com/SanTiwari07/KrishiSaarthi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"/>
          <p:cNvSpPr/>
          <p:nvPr/>
        </p:nvSpPr>
        <p:spPr>
          <a:xfrm rot="10800000">
            <a:off x="8278587" y="9977571"/>
            <a:ext cx="10727874" cy="652329"/>
          </a:xfrm>
          <a:custGeom>
            <a:avLst/>
            <a:gdLst/>
            <a:ahLst/>
            <a:cxnLst/>
            <a:rect l="l" t="t" r="r" b="b"/>
            <a:pathLst>
              <a:path w="10727874" h="652329" extrusionOk="0">
                <a:moveTo>
                  <a:pt x="10727874" y="652329"/>
                </a:moveTo>
                <a:lnTo>
                  <a:pt x="0" y="652329"/>
                </a:lnTo>
                <a:lnTo>
                  <a:pt x="0" y="0"/>
                </a:lnTo>
                <a:lnTo>
                  <a:pt x="10727874" y="0"/>
                </a:lnTo>
                <a:lnTo>
                  <a:pt x="10727874" y="652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5272" b="-652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0" y="9976752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-933298" y="-19050"/>
            <a:ext cx="10972800" cy="589950"/>
          </a:xfrm>
          <a:custGeom>
            <a:avLst/>
            <a:gdLst/>
            <a:ahLst/>
            <a:cxnLst/>
            <a:rect l="l" t="t" r="r" b="b"/>
            <a:pathLst>
              <a:path w="10972800" h="589950" extrusionOk="0">
                <a:moveTo>
                  <a:pt x="0" y="0"/>
                </a:moveTo>
                <a:lnTo>
                  <a:pt x="10972800" y="0"/>
                </a:lnTo>
                <a:lnTo>
                  <a:pt x="10972800" y="589950"/>
                </a:lnTo>
                <a:lnTo>
                  <a:pt x="0" y="58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773" b="-807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9976761" y="-16326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2637962" y="1870881"/>
            <a:ext cx="15028251" cy="7550780"/>
          </a:xfrm>
          <a:custGeom>
            <a:avLst/>
            <a:gdLst/>
            <a:ahLst/>
            <a:cxnLst/>
            <a:rect l="l" t="t" r="r" b="b"/>
            <a:pathLst>
              <a:path w="15028251" h="7550780" extrusionOk="0">
                <a:moveTo>
                  <a:pt x="0" y="0"/>
                </a:moveTo>
                <a:lnTo>
                  <a:pt x="15028251" y="0"/>
                </a:lnTo>
                <a:lnTo>
                  <a:pt x="15028251" y="7550780"/>
                </a:lnTo>
                <a:lnTo>
                  <a:pt x="0" y="7550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0214" t="-19452" r="-4196" b="-7781"/>
            </a:stretch>
          </a:blipFill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1373390" y="2466155"/>
            <a:ext cx="959010" cy="7124072"/>
          </a:xfrm>
          <a:custGeom>
            <a:avLst/>
            <a:gdLst/>
            <a:ahLst/>
            <a:cxnLst/>
            <a:rect l="l" t="t" r="r" b="b"/>
            <a:pathLst>
              <a:path w="959010" h="7124072" extrusionOk="0">
                <a:moveTo>
                  <a:pt x="0" y="0"/>
                </a:moveTo>
                <a:lnTo>
                  <a:pt x="959009" y="0"/>
                </a:lnTo>
                <a:lnTo>
                  <a:pt x="959009" y="7124072"/>
                </a:lnTo>
                <a:lnTo>
                  <a:pt x="0" y="71240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42302" t="-27137" r="-1613007" b="-491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 txBox="1"/>
          <p:nvPr/>
        </p:nvSpPr>
        <p:spPr>
          <a:xfrm>
            <a:off x="669474" y="845010"/>
            <a:ext cx="12017826" cy="721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E60000"/>
                </a:solidFill>
                <a:latin typeface="Arimo"/>
                <a:ea typeface="Arimo"/>
                <a:cs typeface="Arimo"/>
                <a:sym typeface="Arimo"/>
              </a:rPr>
              <a:t>Future Scope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6"/>
          <p:cNvSpPr/>
          <p:nvPr/>
        </p:nvSpPr>
        <p:spPr>
          <a:xfrm>
            <a:off x="-294442" y="388461"/>
            <a:ext cx="18332681" cy="9510078"/>
          </a:xfrm>
          <a:custGeom>
            <a:avLst/>
            <a:gdLst/>
            <a:ahLst/>
            <a:cxnLst/>
            <a:rect l="l" t="t" r="r" b="b"/>
            <a:pathLst>
              <a:path w="18332681" h="9510078" extrusionOk="0">
                <a:moveTo>
                  <a:pt x="0" y="0"/>
                </a:moveTo>
                <a:lnTo>
                  <a:pt x="18332681" y="0"/>
                </a:lnTo>
                <a:lnTo>
                  <a:pt x="18332681" y="9510078"/>
                </a:lnTo>
                <a:lnTo>
                  <a:pt x="0" y="9510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 rot="10800000">
            <a:off x="8278587" y="9977571"/>
            <a:ext cx="10727874" cy="652329"/>
          </a:xfrm>
          <a:custGeom>
            <a:avLst/>
            <a:gdLst/>
            <a:ahLst/>
            <a:cxnLst/>
            <a:rect l="l" t="t" r="r" b="b"/>
            <a:pathLst>
              <a:path w="10727874" h="652329" extrusionOk="0">
                <a:moveTo>
                  <a:pt x="10727874" y="652329"/>
                </a:moveTo>
                <a:lnTo>
                  <a:pt x="0" y="652329"/>
                </a:lnTo>
                <a:lnTo>
                  <a:pt x="0" y="0"/>
                </a:lnTo>
                <a:lnTo>
                  <a:pt x="10727874" y="0"/>
                </a:lnTo>
                <a:lnTo>
                  <a:pt x="10727874" y="65232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65272" b="-652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0" y="9976752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-933298" y="-19050"/>
            <a:ext cx="10972800" cy="589950"/>
          </a:xfrm>
          <a:custGeom>
            <a:avLst/>
            <a:gdLst/>
            <a:ahLst/>
            <a:cxnLst/>
            <a:rect l="l" t="t" r="r" b="b"/>
            <a:pathLst>
              <a:path w="10972800" h="589950" extrusionOk="0">
                <a:moveTo>
                  <a:pt x="0" y="0"/>
                </a:moveTo>
                <a:lnTo>
                  <a:pt x="10972800" y="0"/>
                </a:lnTo>
                <a:lnTo>
                  <a:pt x="10972800" y="589950"/>
                </a:lnTo>
                <a:lnTo>
                  <a:pt x="0" y="58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80773" b="-807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9976761" y="-16326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6" name="Google Shape;416;p16"/>
          <p:cNvGrpSpPr/>
          <p:nvPr/>
        </p:nvGrpSpPr>
        <p:grpSpPr>
          <a:xfrm>
            <a:off x="163131" y="4547194"/>
            <a:ext cx="17875112" cy="5351345"/>
            <a:chOff x="0" y="-9525"/>
            <a:chExt cx="4707848" cy="1409408"/>
          </a:xfrm>
        </p:grpSpPr>
        <p:sp>
          <p:nvSpPr>
            <p:cNvPr id="417" name="Google Shape;417;p16"/>
            <p:cNvSpPr/>
            <p:nvPr/>
          </p:nvSpPr>
          <p:spPr>
            <a:xfrm>
              <a:off x="0" y="0"/>
              <a:ext cx="4707848" cy="1399883"/>
            </a:xfrm>
            <a:custGeom>
              <a:avLst/>
              <a:gdLst/>
              <a:ahLst/>
              <a:cxnLst/>
              <a:rect l="l" t="t" r="r" b="b"/>
              <a:pathLst>
                <a:path w="4707848" h="1399883" extrusionOk="0">
                  <a:moveTo>
                    <a:pt x="0" y="0"/>
                  </a:moveTo>
                  <a:lnTo>
                    <a:pt x="4707848" y="0"/>
                  </a:lnTo>
                  <a:lnTo>
                    <a:pt x="4707848" y="1399883"/>
                  </a:lnTo>
                  <a:lnTo>
                    <a:pt x="0" y="13998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6"/>
            <p:cNvSpPr txBox="1"/>
            <p:nvPr/>
          </p:nvSpPr>
          <p:spPr>
            <a:xfrm>
              <a:off x="0" y="-9525"/>
              <a:ext cx="4707847" cy="14094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9" name="Google Shape;419;p16"/>
          <p:cNvSpPr/>
          <p:nvPr/>
        </p:nvSpPr>
        <p:spPr>
          <a:xfrm>
            <a:off x="328698" y="4854201"/>
            <a:ext cx="5292468" cy="4035507"/>
          </a:xfrm>
          <a:custGeom>
            <a:avLst/>
            <a:gdLst/>
            <a:ahLst/>
            <a:cxnLst/>
            <a:rect l="l" t="t" r="r" b="b"/>
            <a:pathLst>
              <a:path w="5292468" h="4035507" extrusionOk="0">
                <a:moveTo>
                  <a:pt x="0" y="0"/>
                </a:moveTo>
                <a:lnTo>
                  <a:pt x="5292468" y="0"/>
                </a:lnTo>
                <a:lnTo>
                  <a:pt x="5292468" y="4035507"/>
                </a:lnTo>
                <a:lnTo>
                  <a:pt x="0" y="4035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 w="28575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12736693" y="4518220"/>
            <a:ext cx="5301546" cy="4808944"/>
          </a:xfrm>
          <a:custGeom>
            <a:avLst/>
            <a:gdLst/>
            <a:ahLst/>
            <a:cxnLst/>
            <a:rect l="l" t="t" r="r" b="b"/>
            <a:pathLst>
              <a:path w="5301546" h="4808944" extrusionOk="0">
                <a:moveTo>
                  <a:pt x="0" y="0"/>
                </a:moveTo>
                <a:lnTo>
                  <a:pt x="5301546" y="0"/>
                </a:lnTo>
                <a:lnTo>
                  <a:pt x="5301546" y="4808944"/>
                </a:lnTo>
                <a:lnTo>
                  <a:pt x="0" y="4808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 w="28575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6720376" y="4518220"/>
            <a:ext cx="4917108" cy="4874083"/>
          </a:xfrm>
          <a:custGeom>
            <a:avLst/>
            <a:gdLst/>
            <a:ahLst/>
            <a:cxnLst/>
            <a:rect l="l" t="t" r="r" b="b"/>
            <a:pathLst>
              <a:path w="4917108" h="4874083" extrusionOk="0">
                <a:moveTo>
                  <a:pt x="0" y="0"/>
                </a:moveTo>
                <a:lnTo>
                  <a:pt x="4917108" y="0"/>
                </a:lnTo>
                <a:lnTo>
                  <a:pt x="4917108" y="4874083"/>
                </a:lnTo>
                <a:lnTo>
                  <a:pt x="0" y="48740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 w="28575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 txBox="1"/>
          <p:nvPr/>
        </p:nvSpPr>
        <p:spPr>
          <a:xfrm>
            <a:off x="297551" y="2557413"/>
            <a:ext cx="275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SRUJAN GANESH SATAV</a:t>
            </a:r>
            <a:endParaRPr sz="1300"/>
          </a:p>
        </p:txBody>
      </p:sp>
      <p:sp>
        <p:nvSpPr>
          <p:cNvPr id="423" name="Google Shape;423;p16"/>
          <p:cNvSpPr txBox="1"/>
          <p:nvPr/>
        </p:nvSpPr>
        <p:spPr>
          <a:xfrm>
            <a:off x="163125" y="3191100"/>
            <a:ext cx="28092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KANISHKA KISHOR SALGUDE</a:t>
            </a:r>
            <a:endParaRPr sz="1200"/>
          </a:p>
        </p:txBody>
      </p:sp>
      <p:sp>
        <p:nvSpPr>
          <p:cNvPr id="424" name="Google Shape;424;p16"/>
          <p:cNvSpPr txBox="1"/>
          <p:nvPr/>
        </p:nvSpPr>
        <p:spPr>
          <a:xfrm>
            <a:off x="411376" y="3790875"/>
            <a:ext cx="23127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SANSKAR MANOJ TIWARI</a:t>
            </a:r>
            <a:endParaRPr sz="1200"/>
          </a:p>
        </p:txBody>
      </p:sp>
      <p:sp>
        <p:nvSpPr>
          <p:cNvPr id="425" name="Google Shape;425;p16"/>
          <p:cNvSpPr txBox="1"/>
          <p:nvPr/>
        </p:nvSpPr>
        <p:spPr>
          <a:xfrm>
            <a:off x="3485039" y="2574186"/>
            <a:ext cx="2136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BANK OF MAHARASHTRA</a:t>
            </a:r>
            <a:endParaRPr sz="1300"/>
          </a:p>
        </p:txBody>
      </p:sp>
      <p:sp>
        <p:nvSpPr>
          <p:cNvPr id="426" name="Google Shape;426;p16"/>
          <p:cNvSpPr txBox="1"/>
          <p:nvPr/>
        </p:nvSpPr>
        <p:spPr>
          <a:xfrm>
            <a:off x="3485089" y="3340525"/>
            <a:ext cx="213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BANK OF BARODA</a:t>
            </a:r>
            <a:endParaRPr sz="1300"/>
          </a:p>
        </p:txBody>
      </p:sp>
      <p:sp>
        <p:nvSpPr>
          <p:cNvPr id="427" name="Google Shape;427;p16"/>
          <p:cNvSpPr txBox="1"/>
          <p:nvPr/>
        </p:nvSpPr>
        <p:spPr>
          <a:xfrm>
            <a:off x="3485039" y="3899266"/>
            <a:ext cx="2136127" cy="292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HDFC BANK LTD.</a:t>
            </a:r>
            <a:endParaRPr/>
          </a:p>
        </p:txBody>
      </p:sp>
      <p:sp>
        <p:nvSpPr>
          <p:cNvPr id="428" name="Google Shape;428;p16"/>
          <p:cNvSpPr txBox="1"/>
          <p:nvPr/>
        </p:nvSpPr>
        <p:spPr>
          <a:xfrm>
            <a:off x="6547273" y="2574186"/>
            <a:ext cx="21360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PUNE HADAPSAR I.E.(81)</a:t>
            </a:r>
            <a:endParaRPr sz="1200"/>
          </a:p>
        </p:txBody>
      </p:sp>
      <p:sp>
        <p:nvSpPr>
          <p:cNvPr id="429" name="Google Shape;429;p16"/>
          <p:cNvSpPr txBox="1"/>
          <p:nvPr/>
        </p:nvSpPr>
        <p:spPr>
          <a:xfrm>
            <a:off x="6547273" y="3315150"/>
            <a:ext cx="213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GANGAPUR ROAD</a:t>
            </a:r>
            <a:endParaRPr sz="1300"/>
          </a:p>
        </p:txBody>
      </p:sp>
      <p:sp>
        <p:nvSpPr>
          <p:cNvPr id="430" name="Google Shape;430;p16"/>
          <p:cNvSpPr txBox="1"/>
          <p:nvPr/>
        </p:nvSpPr>
        <p:spPr>
          <a:xfrm>
            <a:off x="6366463" y="3924488"/>
            <a:ext cx="256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LAXMIPURI-KOLHAPUR</a:t>
            </a:r>
            <a:endParaRPr sz="1200"/>
          </a:p>
        </p:txBody>
      </p:sp>
      <p:sp>
        <p:nvSpPr>
          <p:cNvPr id="431" name="Google Shape;431;p16"/>
          <p:cNvSpPr txBox="1"/>
          <p:nvPr/>
        </p:nvSpPr>
        <p:spPr>
          <a:xfrm>
            <a:off x="9493026" y="2643140"/>
            <a:ext cx="213612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60493236083</a:t>
            </a:r>
            <a:endParaRPr/>
          </a:p>
        </p:txBody>
      </p:sp>
      <p:sp>
        <p:nvSpPr>
          <p:cNvPr id="432" name="Google Shape;432;p16"/>
          <p:cNvSpPr txBox="1"/>
          <p:nvPr/>
        </p:nvSpPr>
        <p:spPr>
          <a:xfrm>
            <a:off x="9156521" y="3260054"/>
            <a:ext cx="280913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97590100006841</a:t>
            </a:r>
            <a:endParaRPr/>
          </a:p>
        </p:txBody>
      </p:sp>
      <p:sp>
        <p:nvSpPr>
          <p:cNvPr id="433" name="Google Shape;433;p16"/>
          <p:cNvSpPr txBox="1"/>
          <p:nvPr/>
        </p:nvSpPr>
        <p:spPr>
          <a:xfrm>
            <a:off x="9156521" y="3826587"/>
            <a:ext cx="280913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50100043699392</a:t>
            </a:r>
            <a:endParaRPr/>
          </a:p>
        </p:txBody>
      </p:sp>
      <p:sp>
        <p:nvSpPr>
          <p:cNvPr id="434" name="Google Shape;434;p16"/>
          <p:cNvSpPr txBox="1"/>
          <p:nvPr/>
        </p:nvSpPr>
        <p:spPr>
          <a:xfrm>
            <a:off x="12574460" y="2643140"/>
            <a:ext cx="213612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SAVINGS</a:t>
            </a:r>
            <a:endParaRPr/>
          </a:p>
        </p:txBody>
      </p:sp>
      <p:sp>
        <p:nvSpPr>
          <p:cNvPr id="435" name="Google Shape;435;p16"/>
          <p:cNvSpPr txBox="1"/>
          <p:nvPr/>
        </p:nvSpPr>
        <p:spPr>
          <a:xfrm>
            <a:off x="12574460" y="3234863"/>
            <a:ext cx="213612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SAVINGS</a:t>
            </a:r>
            <a:endParaRPr/>
          </a:p>
        </p:txBody>
      </p:sp>
      <p:sp>
        <p:nvSpPr>
          <p:cNvPr id="436" name="Google Shape;436;p16"/>
          <p:cNvSpPr txBox="1"/>
          <p:nvPr/>
        </p:nvSpPr>
        <p:spPr>
          <a:xfrm>
            <a:off x="12574460" y="3826587"/>
            <a:ext cx="213612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SAVINGS</a:t>
            </a:r>
            <a:endParaRPr/>
          </a:p>
        </p:txBody>
      </p:sp>
      <p:sp>
        <p:nvSpPr>
          <p:cNvPr id="437" name="Google Shape;437;p16"/>
          <p:cNvSpPr txBox="1"/>
          <p:nvPr/>
        </p:nvSpPr>
        <p:spPr>
          <a:xfrm>
            <a:off x="15287248" y="2643140"/>
            <a:ext cx="2518026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MAHB0000081</a:t>
            </a:r>
            <a:endParaRPr/>
          </a:p>
        </p:txBody>
      </p:sp>
      <p:sp>
        <p:nvSpPr>
          <p:cNvPr id="438" name="Google Shape;438;p16"/>
          <p:cNvSpPr txBox="1"/>
          <p:nvPr/>
        </p:nvSpPr>
        <p:spPr>
          <a:xfrm>
            <a:off x="15320188" y="3826587"/>
            <a:ext cx="2518026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HDFC0001274</a:t>
            </a:r>
            <a:endParaRPr/>
          </a:p>
        </p:txBody>
      </p:sp>
      <p:sp>
        <p:nvSpPr>
          <p:cNvPr id="439" name="Google Shape;439;p16"/>
          <p:cNvSpPr txBox="1"/>
          <p:nvPr/>
        </p:nvSpPr>
        <p:spPr>
          <a:xfrm>
            <a:off x="15186838" y="3234863"/>
            <a:ext cx="2750991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BARB0DBGNGA</a:t>
            </a:r>
            <a:endParaRPr/>
          </a:p>
        </p:txBody>
      </p:sp>
      <p:sp>
        <p:nvSpPr>
          <p:cNvPr id="440" name="Google Shape;440;p16"/>
          <p:cNvSpPr txBox="1"/>
          <p:nvPr/>
        </p:nvSpPr>
        <p:spPr>
          <a:xfrm>
            <a:off x="328462" y="9422120"/>
            <a:ext cx="5292704" cy="292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MEMBER 1 : SRUJAN GANESH SATAV</a:t>
            </a:r>
            <a:endParaRPr/>
          </a:p>
        </p:txBody>
      </p:sp>
      <p:sp>
        <p:nvSpPr>
          <p:cNvPr id="441" name="Google Shape;441;p16"/>
          <p:cNvSpPr txBox="1"/>
          <p:nvPr/>
        </p:nvSpPr>
        <p:spPr>
          <a:xfrm>
            <a:off x="6277538" y="9563753"/>
            <a:ext cx="5732924" cy="292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MEMBER 2:KANISHKA KISHOR SALGUDE</a:t>
            </a:r>
            <a:endParaRPr/>
          </a:p>
        </p:txBody>
      </p:sp>
      <p:sp>
        <p:nvSpPr>
          <p:cNvPr id="442" name="Google Shape;442;p16"/>
          <p:cNvSpPr txBox="1"/>
          <p:nvPr/>
        </p:nvSpPr>
        <p:spPr>
          <a:xfrm>
            <a:off x="12535428" y="9498614"/>
            <a:ext cx="5402401" cy="292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MEMBER 3:SANSKAR MANOJ TIWARI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7"/>
          <p:cNvSpPr/>
          <p:nvPr/>
        </p:nvSpPr>
        <p:spPr>
          <a:xfrm rot="10800000">
            <a:off x="8278587" y="9977571"/>
            <a:ext cx="10727874" cy="652329"/>
          </a:xfrm>
          <a:custGeom>
            <a:avLst/>
            <a:gdLst/>
            <a:ahLst/>
            <a:cxnLst/>
            <a:rect l="l" t="t" r="r" b="b"/>
            <a:pathLst>
              <a:path w="10727874" h="652329" extrusionOk="0">
                <a:moveTo>
                  <a:pt x="10727874" y="652329"/>
                </a:moveTo>
                <a:lnTo>
                  <a:pt x="0" y="652329"/>
                </a:lnTo>
                <a:lnTo>
                  <a:pt x="0" y="0"/>
                </a:lnTo>
                <a:lnTo>
                  <a:pt x="10727874" y="0"/>
                </a:lnTo>
                <a:lnTo>
                  <a:pt x="10727874" y="6523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5272" b="-652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0" y="9976752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-933298" y="-19050"/>
            <a:ext cx="10972800" cy="589950"/>
          </a:xfrm>
          <a:custGeom>
            <a:avLst/>
            <a:gdLst/>
            <a:ahLst/>
            <a:cxnLst/>
            <a:rect l="l" t="t" r="r" b="b"/>
            <a:pathLst>
              <a:path w="10972800" h="589950" extrusionOk="0">
                <a:moveTo>
                  <a:pt x="0" y="0"/>
                </a:moveTo>
                <a:lnTo>
                  <a:pt x="10972800" y="0"/>
                </a:lnTo>
                <a:lnTo>
                  <a:pt x="10972800" y="589950"/>
                </a:lnTo>
                <a:lnTo>
                  <a:pt x="0" y="58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0773" b="-807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9976761" y="-16326"/>
            <a:ext cx="8441912" cy="604171"/>
          </a:xfrm>
          <a:custGeom>
            <a:avLst/>
            <a:gdLst/>
            <a:ahLst/>
            <a:cxnLst/>
            <a:rect l="l" t="t" r="r" b="b"/>
            <a:pathLst>
              <a:path w="11255883" h="805561" extrusionOk="0">
                <a:moveTo>
                  <a:pt x="0" y="0"/>
                </a:moveTo>
                <a:lnTo>
                  <a:pt x="11255883" y="0"/>
                </a:lnTo>
                <a:lnTo>
                  <a:pt x="11255883" y="805561"/>
                </a:lnTo>
                <a:lnTo>
                  <a:pt x="0" y="805561"/>
                </a:lnTo>
                <a:close/>
              </a:path>
            </a:pathLst>
          </a:custGeom>
          <a:solidFill>
            <a:srgbClr val="5B00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2066718" y="570900"/>
            <a:ext cx="14154563" cy="9465864"/>
          </a:xfrm>
          <a:custGeom>
            <a:avLst/>
            <a:gdLst/>
            <a:ahLst/>
            <a:cxnLst/>
            <a:rect l="l" t="t" r="r" b="b"/>
            <a:pathLst>
              <a:path w="14154563" h="9465864" extrusionOk="0">
                <a:moveTo>
                  <a:pt x="0" y="0"/>
                </a:moveTo>
                <a:lnTo>
                  <a:pt x="14154564" y="0"/>
                </a:lnTo>
                <a:lnTo>
                  <a:pt x="14154564" y="9465864"/>
                </a:lnTo>
                <a:lnTo>
                  <a:pt x="0" y="9465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6" name="Google Shape;456;p17"/>
          <p:cNvGrpSpPr/>
          <p:nvPr/>
        </p:nvGrpSpPr>
        <p:grpSpPr>
          <a:xfrm>
            <a:off x="-1019382" y="498570"/>
            <a:ext cx="3086100" cy="9478182"/>
            <a:chOff x="0" y="-19050"/>
            <a:chExt cx="812800" cy="2496311"/>
          </a:xfrm>
        </p:grpSpPr>
        <p:sp>
          <p:nvSpPr>
            <p:cNvPr id="457" name="Google Shape;457;p17"/>
            <p:cNvSpPr/>
            <p:nvPr/>
          </p:nvSpPr>
          <p:spPr>
            <a:xfrm>
              <a:off x="0" y="0"/>
              <a:ext cx="812800" cy="2477261"/>
            </a:xfrm>
            <a:custGeom>
              <a:avLst/>
              <a:gdLst/>
              <a:ahLst/>
              <a:cxnLst/>
              <a:rect l="l" t="t" r="r" b="b"/>
              <a:pathLst>
                <a:path w="812800" h="2477261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2477261"/>
                  </a:lnTo>
                  <a:lnTo>
                    <a:pt x="0" y="2477261"/>
                  </a:lnTo>
                  <a:close/>
                </a:path>
              </a:pathLst>
            </a:custGeom>
            <a:solidFill>
              <a:srgbClr val="59010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7"/>
            <p:cNvSpPr txBox="1"/>
            <p:nvPr/>
          </p:nvSpPr>
          <p:spPr>
            <a:xfrm>
              <a:off x="0" y="-19050"/>
              <a:ext cx="812800" cy="24963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9" name="Google Shape;459;p17"/>
          <p:cNvSpPr txBox="1"/>
          <p:nvPr/>
        </p:nvSpPr>
        <p:spPr>
          <a:xfrm>
            <a:off x="2958225" y="4422413"/>
            <a:ext cx="12560100" cy="16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92">
                <a:solidFill>
                  <a:srgbClr val="E6000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Thank You</a:t>
            </a:r>
            <a:endParaRPr sz="48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grpSp>
        <p:nvGrpSpPr>
          <p:cNvPr id="460" name="Google Shape;460;p17"/>
          <p:cNvGrpSpPr/>
          <p:nvPr/>
        </p:nvGrpSpPr>
        <p:grpSpPr>
          <a:xfrm>
            <a:off x="16221282" y="-376246"/>
            <a:ext cx="3086100" cy="10811617"/>
            <a:chOff x="0" y="-19050"/>
            <a:chExt cx="812800" cy="2847504"/>
          </a:xfrm>
        </p:grpSpPr>
        <p:sp>
          <p:nvSpPr>
            <p:cNvPr id="461" name="Google Shape;461;p17"/>
            <p:cNvSpPr/>
            <p:nvPr/>
          </p:nvSpPr>
          <p:spPr>
            <a:xfrm>
              <a:off x="0" y="0"/>
              <a:ext cx="812800" cy="2828454"/>
            </a:xfrm>
            <a:custGeom>
              <a:avLst/>
              <a:gdLst/>
              <a:ahLst/>
              <a:cxnLst/>
              <a:rect l="l" t="t" r="r" b="b"/>
              <a:pathLst>
                <a:path w="812800" h="282845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2828454"/>
                  </a:lnTo>
                  <a:lnTo>
                    <a:pt x="0" y="2828454"/>
                  </a:lnTo>
                  <a:close/>
                </a:path>
              </a:pathLst>
            </a:custGeom>
            <a:solidFill>
              <a:srgbClr val="59010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7"/>
            <p:cNvSpPr txBox="1"/>
            <p:nvPr/>
          </p:nvSpPr>
          <p:spPr>
            <a:xfrm>
              <a:off x="0" y="-19050"/>
              <a:ext cx="812800" cy="28475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3" name="Google Shape;463;p17"/>
          <p:cNvSpPr txBox="1"/>
          <p:nvPr/>
        </p:nvSpPr>
        <p:spPr>
          <a:xfrm>
            <a:off x="5114844" y="4271822"/>
            <a:ext cx="4700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JAI JAWAAN,JAI KISAAN</a:t>
            </a:r>
            <a:endParaRPr sz="800" b="1"/>
          </a:p>
        </p:txBody>
      </p:sp>
      <p:sp>
        <p:nvSpPr>
          <p:cNvPr id="464" name="Google Shape;464;p17"/>
          <p:cNvSpPr txBox="1"/>
          <p:nvPr/>
        </p:nvSpPr>
        <p:spPr>
          <a:xfrm>
            <a:off x="9240701" y="4225622"/>
            <a:ext cx="3503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जय जवान, जय किसान</a:t>
            </a:r>
            <a:endParaRPr sz="2900" b="1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</Words>
  <Application>Microsoft Office PowerPoint</Application>
  <PresentationFormat>Custom</PresentationFormat>
  <Paragraphs>135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Fredoka</vt:lpstr>
      <vt:lpstr>Calibri</vt:lpstr>
      <vt:lpstr>Playfair Display Black</vt:lpstr>
      <vt:lpstr>League Spartan</vt:lpstr>
      <vt:lpstr>Times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srujan satav</cp:lastModifiedBy>
  <cp:revision>1</cp:revision>
  <dcterms:created xsi:type="dcterms:W3CDTF">2006-08-16T00:00:00Z</dcterms:created>
  <dcterms:modified xsi:type="dcterms:W3CDTF">2026-02-13T14:22:06Z</dcterms:modified>
</cp:coreProperties>
</file>